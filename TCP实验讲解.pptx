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30"/>
  </p:notesMasterIdLst>
  <p:sldIdLst>
    <p:sldId id="272" r:id="rId2"/>
    <p:sldId id="270" r:id="rId3"/>
    <p:sldId id="258" r:id="rId4"/>
    <p:sldId id="259" r:id="rId5"/>
    <p:sldId id="263" r:id="rId6"/>
    <p:sldId id="266" r:id="rId7"/>
    <p:sldId id="267" r:id="rId8"/>
    <p:sldId id="309" r:id="rId9"/>
    <p:sldId id="312" r:id="rId10"/>
    <p:sldId id="314" r:id="rId11"/>
    <p:sldId id="310" r:id="rId12"/>
    <p:sldId id="311" r:id="rId13"/>
    <p:sldId id="262" r:id="rId14"/>
    <p:sldId id="271" r:id="rId15"/>
    <p:sldId id="284" r:id="rId16"/>
    <p:sldId id="289" r:id="rId17"/>
    <p:sldId id="290" r:id="rId18"/>
    <p:sldId id="291" r:id="rId19"/>
    <p:sldId id="283" r:id="rId20"/>
    <p:sldId id="278" r:id="rId21"/>
    <p:sldId id="280" r:id="rId22"/>
    <p:sldId id="281" r:id="rId23"/>
    <p:sldId id="282" r:id="rId24"/>
    <p:sldId id="337" r:id="rId25"/>
    <p:sldId id="338" r:id="rId26"/>
    <p:sldId id="346" r:id="rId27"/>
    <p:sldId id="347" r:id="rId28"/>
    <p:sldId id="261" r:id="rId29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8"/>
    <p:restoredTop sz="94569"/>
  </p:normalViewPr>
  <p:slideViewPr>
    <p:cSldViewPr>
      <p:cViewPr varScale="1">
        <p:scale>
          <a:sx n="81" d="100"/>
          <a:sy n="81" d="100"/>
        </p:scale>
        <p:origin x="36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>
                <a:latin typeface="Georgia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fld id="{145D3A88-11C7-48D9-A6B1-6C64EB989189}" type="datetimeFigureOut">
              <a:rPr lang="zh-CN" altLang="en-US"/>
              <a:pPr/>
              <a:t>2024/12/8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>
                <a:latin typeface="Georgia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fld id="{B644E4F1-1625-4B38-BB43-45657B040E67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charset="0"/>
      </a:defRPr>
    </a:lvl1pPr>
    <a:lvl2pPr marL="4572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kumimoji="0" lang="zh-CN" altLang="en-US"/>
          </a:p>
        </p:txBody>
      </p:sp>
      <p:sp>
        <p:nvSpPr>
          <p:cNvPr id="7171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fld id="{D6888666-AC01-46E3-A345-9E00B432F562}" type="slidenum">
              <a:rPr kumimoji="0" lang="zh-CN" altLang="en-US" sz="1200">
                <a:latin typeface="Arial" panose="020B0604020202020204" pitchFamily="34" charset="0"/>
              </a:rPr>
              <a:pPr/>
              <a:t>1</a:t>
            </a:fld>
            <a:endParaRPr kumimoji="0" lang="zh-CN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》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C5D56-E7F6-C744-BC34-B597A3E45914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5115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85518182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9"/>
          <p:cNvCxnSpPr/>
          <p:nvPr/>
        </p:nvCxnSpPr>
        <p:spPr>
          <a:xfrm>
            <a:off x="143339" y="847725"/>
            <a:ext cx="8640960" cy="0"/>
          </a:xfrm>
          <a:prstGeom prst="line">
            <a:avLst/>
          </a:prstGeom>
          <a:ln w="15875">
            <a:gradFill>
              <a:gsLst>
                <a:gs pos="1300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84927248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2132329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5788582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9"/>
          <p:cNvCxnSpPr/>
          <p:nvPr/>
        </p:nvCxnSpPr>
        <p:spPr>
          <a:xfrm>
            <a:off x="143339" y="847725"/>
            <a:ext cx="8640960" cy="0"/>
          </a:xfrm>
          <a:prstGeom prst="line">
            <a:avLst/>
          </a:prstGeom>
          <a:ln w="15875">
            <a:gradFill>
              <a:gsLst>
                <a:gs pos="1300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60649"/>
            <a:ext cx="109728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 noChangeArrowheads="1"/>
          </p:cNvSpPr>
          <p:nvPr>
            <p:ph idx="1"/>
          </p:nvPr>
        </p:nvSpPr>
        <p:spPr bwMode="auto">
          <a:xfrm>
            <a:off x="609600" y="1052736"/>
            <a:ext cx="10972800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766371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18563393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60649"/>
            <a:ext cx="109728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 noChangeArrowheads="1"/>
          </p:cNvSpPr>
          <p:nvPr>
            <p:ph idx="1"/>
          </p:nvPr>
        </p:nvSpPr>
        <p:spPr bwMode="auto">
          <a:xfrm>
            <a:off x="609600" y="1052736"/>
            <a:ext cx="10972800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5484316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/>
            </a:lvl1pPr>
          </a:lstStyle>
          <a:p>
            <a:fld id="{DF7A3523-D43F-457A-B392-CA24D3C870CA}" type="datetimeFigureOut">
              <a:rPr lang="zh-CN" altLang="en-US"/>
              <a:pPr/>
              <a:t>2024/12/8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kumimoji="1">
                <a:latin typeface="Georgia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/>
            </a:lvl1pPr>
          </a:lstStyle>
          <a:p>
            <a:fld id="{494EA861-7683-44C3-96F7-033F1FF0072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80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60351"/>
            <a:ext cx="109728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52513"/>
            <a:ext cx="1097280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901" r:id="rId2"/>
    <p:sldLayoutId id="2147483897" r:id="rId3"/>
    <p:sldLayoutId id="2147483898" r:id="rId4"/>
    <p:sldLayoutId id="2147483902" r:id="rId5"/>
    <p:sldLayoutId id="2147483899" r:id="rId6"/>
    <p:sldLayoutId id="2147483900" r:id="rId7"/>
    <p:sldLayoutId id="2147483903" r:id="rId8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charset="0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alibri" pitchFamily="34" charset="0"/>
          <a:ea typeface="宋体" pitchFamily="2" charset="-122"/>
          <a:cs typeface="宋体" charset="0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alibri" pitchFamily="34" charset="0"/>
          <a:ea typeface="宋体" pitchFamily="2" charset="-122"/>
          <a:cs typeface="宋体" charset="0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alibri" pitchFamily="34" charset="0"/>
          <a:ea typeface="宋体" pitchFamily="2" charset="-122"/>
          <a:cs typeface="宋体" charset="0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alibri" pitchFamily="34" charset="0"/>
          <a:ea typeface="宋体" pitchFamily="2" charset="-122"/>
          <a:cs typeface="宋体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>
          <a:solidFill>
            <a:schemeClr val="tx1"/>
          </a:solidFill>
          <a:latin typeface="Heiti SC Light"/>
          <a:ea typeface="Heiti SC Light"/>
          <a:cs typeface="Heiti SC Light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b="1">
          <a:solidFill>
            <a:schemeClr val="tx2"/>
          </a:solidFill>
          <a:latin typeface="Songti SC Regular"/>
          <a:ea typeface="Songti SC Regular" charset="0"/>
          <a:cs typeface="Songti SC Regular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b="1">
          <a:solidFill>
            <a:schemeClr val="tx2"/>
          </a:solidFill>
          <a:latin typeface="Songti SC Regular"/>
          <a:ea typeface="Songti SC Regular" charset="0"/>
          <a:cs typeface="Songti SC Regular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b="1">
          <a:solidFill>
            <a:schemeClr val="tx2"/>
          </a:solidFill>
          <a:latin typeface="Songti SC Regular"/>
          <a:ea typeface="Songti SC Regular" charset="0"/>
          <a:cs typeface="Songti SC Regular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b="1">
          <a:solidFill>
            <a:schemeClr val="tx2"/>
          </a:solidFill>
          <a:latin typeface="Songti SC Regular"/>
          <a:ea typeface="Songti SC Regular" charset="0"/>
          <a:cs typeface="Songti SC Regular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osn.ouc.edu.cn/~hong" TargetMode="External"/><Relationship Id="rId4" Type="http://schemas.openxmlformats.org/officeDocument/2006/relationships/hyperlink" Target="mailto:gray.hong@gmail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RDT1.0/TCP_Sender.java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hyperlink" Target="RDT1.0/TCP_Receiver.java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24001" y="1276350"/>
            <a:ext cx="9166225" cy="1289050"/>
          </a:xfrm>
          <a:prstGeom prst="rect">
            <a:avLst/>
          </a:prstGeom>
          <a:solidFill>
            <a:srgbClr val="0174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1371600"/>
            <a:ext cx="9144000" cy="9779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0" lang="en-US" altLang="zh-CN" sz="4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 – Expeiment – TCP</a:t>
            </a:r>
            <a:endParaRPr kumimoji="0" lang="zh-CN" altLang="en-US" sz="4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7" name="Picture 11" descr="C:\Users\Xiang\Desktop\ou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439" y="5508625"/>
            <a:ext cx="4103687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文本框 1"/>
          <p:cNvSpPr txBox="1">
            <a:spLocks noChangeArrowheads="1"/>
          </p:cNvSpPr>
          <p:nvPr/>
        </p:nvSpPr>
        <p:spPr bwMode="auto">
          <a:xfrm>
            <a:off x="3792538" y="3614738"/>
            <a:ext cx="575945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Dr. Feng Hong</a:t>
            </a:r>
          </a:p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gray.hong@gmail.com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http://osn.ouc.edu.cn/~hong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信息学院南楼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B517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房间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2"/>
          <p:cNvSpPr>
            <a:spLocks noChangeArrowheads="1"/>
          </p:cNvSpPr>
          <p:nvPr/>
        </p:nvSpPr>
        <p:spPr bwMode="auto">
          <a:xfrm>
            <a:off x="8202614" y="4976814"/>
            <a:ext cx="261937" cy="130175"/>
          </a:xfrm>
          <a:prstGeom prst="rightArrow">
            <a:avLst>
              <a:gd name="adj1" fmla="val 50000"/>
              <a:gd name="adj2" fmla="val 50305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8194" name="Rectangle 3"/>
          <p:cNvSpPr>
            <a:spLocks noChangeArrowheads="1"/>
          </p:cNvSpPr>
          <p:nvPr/>
        </p:nvSpPr>
        <p:spPr bwMode="auto">
          <a:xfrm>
            <a:off x="4721225" y="1647826"/>
            <a:ext cx="3240088" cy="1008063"/>
          </a:xfrm>
          <a:prstGeom prst="rect">
            <a:avLst/>
          </a:prstGeom>
          <a:solidFill>
            <a:srgbClr val="FFFFCC"/>
          </a:solidFill>
          <a:ln w="38100" cmpd="dbl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grpSp>
        <p:nvGrpSpPr>
          <p:cNvPr id="8195" name="Group 4"/>
          <p:cNvGrpSpPr>
            <a:grpSpLocks/>
          </p:cNvGrpSpPr>
          <p:nvPr/>
        </p:nvGrpSpPr>
        <p:grpSpPr bwMode="auto">
          <a:xfrm>
            <a:off x="7385050" y="4887914"/>
            <a:ext cx="865188" cy="287337"/>
            <a:chOff x="2925" y="1570"/>
            <a:chExt cx="545" cy="181"/>
          </a:xfrm>
        </p:grpSpPr>
        <p:grpSp>
          <p:nvGrpSpPr>
            <p:cNvPr id="8274" name="Group 5"/>
            <p:cNvGrpSpPr>
              <a:grpSpLocks/>
            </p:cNvGrpSpPr>
            <p:nvPr/>
          </p:nvGrpSpPr>
          <p:grpSpPr bwMode="auto">
            <a:xfrm>
              <a:off x="3061" y="1570"/>
              <a:ext cx="272" cy="181"/>
              <a:chOff x="3061" y="1842"/>
              <a:chExt cx="272" cy="181"/>
            </a:xfrm>
          </p:grpSpPr>
          <p:sp>
            <p:nvSpPr>
              <p:cNvPr id="8277" name="Rectangle 6"/>
              <p:cNvSpPr>
                <a:spLocks noChangeArrowheads="1"/>
              </p:cNvSpPr>
              <p:nvPr/>
            </p:nvSpPr>
            <p:spPr bwMode="auto">
              <a:xfrm>
                <a:off x="3061" y="1842"/>
                <a:ext cx="136" cy="18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80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*</a:t>
                </a:r>
              </a:p>
            </p:txBody>
          </p:sp>
          <p:sp>
            <p:nvSpPr>
              <p:cNvPr id="8278" name="Rectangle 7"/>
              <p:cNvSpPr>
                <a:spLocks noChangeArrowheads="1"/>
              </p:cNvSpPr>
              <p:nvPr/>
            </p:nvSpPr>
            <p:spPr bwMode="auto">
              <a:xfrm>
                <a:off x="3197" y="1842"/>
                <a:ext cx="136" cy="181"/>
              </a:xfrm>
              <a:prstGeom prst="rect">
                <a:avLst/>
              </a:prstGeom>
              <a:solidFill>
                <a:srgbClr val="66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800">
                    <a:latin typeface="Times New Roman" panose="02020603050405020304" pitchFamily="18" charset="0"/>
                    <a:ea typeface="黑体" panose="02010609060101010101" pitchFamily="49" charset="-122"/>
                  </a:rPr>
                  <a:t>6</a:t>
                </a:r>
              </a:p>
            </p:txBody>
          </p:sp>
        </p:grpSp>
        <p:sp>
          <p:nvSpPr>
            <p:cNvPr id="8275" name="Rectangle 8"/>
            <p:cNvSpPr>
              <a:spLocks noChangeArrowheads="1"/>
            </p:cNvSpPr>
            <p:nvPr/>
          </p:nvSpPr>
          <p:spPr bwMode="auto">
            <a:xfrm>
              <a:off x="2925" y="1570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8</a:t>
              </a:r>
            </a:p>
          </p:txBody>
        </p:sp>
        <p:sp>
          <p:nvSpPr>
            <p:cNvPr id="8276" name="Rectangle 9"/>
            <p:cNvSpPr>
              <a:spLocks noChangeArrowheads="1"/>
            </p:cNvSpPr>
            <p:nvPr/>
          </p:nvSpPr>
          <p:spPr bwMode="auto">
            <a:xfrm>
              <a:off x="3334" y="1570"/>
              <a:ext cx="136" cy="18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H</a:t>
              </a:r>
            </a:p>
          </p:txBody>
        </p:sp>
      </p:grpSp>
      <p:sp>
        <p:nvSpPr>
          <p:cNvPr id="8196" name="Text Box 10"/>
          <p:cNvSpPr txBox="1">
            <a:spLocks noChangeArrowheads="1"/>
          </p:cNvSpPr>
          <p:nvPr/>
        </p:nvSpPr>
        <p:spPr bwMode="auto">
          <a:xfrm>
            <a:off x="8709025" y="1501775"/>
            <a:ext cx="769938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66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</a:t>
            </a:r>
            <a:endParaRPr lang="en-US" altLang="zh-CN" sz="660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197" name="Freeform 12"/>
          <p:cNvSpPr>
            <a:spLocks/>
          </p:cNvSpPr>
          <p:nvPr/>
        </p:nvSpPr>
        <p:spPr bwMode="auto">
          <a:xfrm>
            <a:off x="8683625" y="4527550"/>
            <a:ext cx="357188" cy="889000"/>
          </a:xfrm>
          <a:custGeom>
            <a:avLst/>
            <a:gdLst>
              <a:gd name="T0" fmla="*/ 0 w 225"/>
              <a:gd name="T1" fmla="*/ 2147483647 h 590"/>
              <a:gd name="T2" fmla="*/ 2147483647 w 225"/>
              <a:gd name="T3" fmla="*/ 2147483647 h 590"/>
              <a:gd name="T4" fmla="*/ 2147483647 w 225"/>
              <a:gd name="T5" fmla="*/ 0 h 590"/>
              <a:gd name="T6" fmla="*/ 0 60000 65536"/>
              <a:gd name="T7" fmla="*/ 0 60000 65536"/>
              <a:gd name="T8" fmla="*/ 0 60000 65536"/>
              <a:gd name="T9" fmla="*/ 0 w 225"/>
              <a:gd name="T10" fmla="*/ 0 h 590"/>
              <a:gd name="T11" fmla="*/ 225 w 22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5" h="590">
                <a:moveTo>
                  <a:pt x="0" y="590"/>
                </a:moveTo>
                <a:lnTo>
                  <a:pt x="225" y="590"/>
                </a:lnTo>
                <a:lnTo>
                  <a:pt x="225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Text Box 13"/>
          <p:cNvSpPr txBox="1">
            <a:spLocks noChangeArrowheads="1"/>
          </p:cNvSpPr>
          <p:nvPr/>
        </p:nvSpPr>
        <p:spPr bwMode="auto">
          <a:xfrm>
            <a:off x="2443164" y="1501775"/>
            <a:ext cx="769937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66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</a:t>
            </a:r>
            <a:endParaRPr lang="en-US" altLang="zh-CN" sz="660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199" name="AutoShape 14"/>
          <p:cNvSpPr>
            <a:spLocks noChangeArrowheads="1"/>
          </p:cNvSpPr>
          <p:nvPr/>
        </p:nvSpPr>
        <p:spPr bwMode="auto">
          <a:xfrm>
            <a:off x="5753101" y="4978401"/>
            <a:ext cx="263525" cy="130175"/>
          </a:xfrm>
          <a:prstGeom prst="rightArrow">
            <a:avLst>
              <a:gd name="adj1" fmla="val 50000"/>
              <a:gd name="adj2" fmla="val 5061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8200" name="AutoShape 15"/>
          <p:cNvSpPr>
            <a:spLocks noChangeArrowheads="1"/>
          </p:cNvSpPr>
          <p:nvPr/>
        </p:nvSpPr>
        <p:spPr bwMode="auto">
          <a:xfrm>
            <a:off x="4168776" y="4976814"/>
            <a:ext cx="263525" cy="130175"/>
          </a:xfrm>
          <a:prstGeom prst="rightArrow">
            <a:avLst>
              <a:gd name="adj1" fmla="val 50000"/>
              <a:gd name="adj2" fmla="val 5061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8201" name="Line 16"/>
          <p:cNvSpPr>
            <a:spLocks noChangeShapeType="1"/>
          </p:cNvSpPr>
          <p:nvPr/>
        </p:nvSpPr>
        <p:spPr bwMode="auto">
          <a:xfrm>
            <a:off x="2776539" y="2368550"/>
            <a:ext cx="3175" cy="148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2" name="Text Box 17"/>
          <p:cNvSpPr txBox="1">
            <a:spLocks noChangeArrowheads="1"/>
          </p:cNvSpPr>
          <p:nvPr/>
        </p:nvSpPr>
        <p:spPr bwMode="auto">
          <a:xfrm>
            <a:off x="4041775" y="4557713"/>
            <a:ext cx="186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发送 </a:t>
            </a:r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TCP </a:t>
            </a:r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报文段</a:t>
            </a:r>
          </a:p>
        </p:txBody>
      </p:sp>
      <p:sp>
        <p:nvSpPr>
          <p:cNvPr id="6156" name="Rectangle 18"/>
          <p:cNvSpPr>
            <a:spLocks noChangeArrowheads="1"/>
          </p:cNvSpPr>
          <p:nvPr/>
        </p:nvSpPr>
        <p:spPr bwMode="auto">
          <a:xfrm>
            <a:off x="1952625" y="3844926"/>
            <a:ext cx="1663700" cy="682625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altLang="zh-CN">
              <a:latin typeface="Times New Roman" charset="0"/>
              <a:ea typeface="黑体" charset="0"/>
              <a:cs typeface="黑体" charset="0"/>
            </a:endParaRPr>
          </a:p>
          <a:p>
            <a:pPr algn="ctr">
              <a:defRPr/>
            </a:pPr>
            <a:endParaRPr kumimoji="1" lang="en-US" altLang="zh-CN" sz="900">
              <a:latin typeface="Times New Roman" charset="0"/>
              <a:ea typeface="黑体" charset="0"/>
              <a:cs typeface="黑体" charset="0"/>
            </a:endParaRPr>
          </a:p>
          <a:p>
            <a:pPr algn="ctr">
              <a:defRPr/>
            </a:pPr>
            <a:endParaRPr kumimoji="1" lang="en-US" altLang="zh-CN">
              <a:latin typeface="Times New Roman" charset="0"/>
              <a:ea typeface="黑体" charset="0"/>
              <a:cs typeface="黑体" charset="0"/>
            </a:endParaRPr>
          </a:p>
        </p:txBody>
      </p:sp>
      <p:sp>
        <p:nvSpPr>
          <p:cNvPr id="8204" name="Line 19"/>
          <p:cNvSpPr>
            <a:spLocks noChangeShapeType="1"/>
          </p:cNvSpPr>
          <p:nvPr/>
        </p:nvSpPr>
        <p:spPr bwMode="auto">
          <a:xfrm flipV="1">
            <a:off x="9067800" y="2368551"/>
            <a:ext cx="0" cy="1476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8" name="Rectangle 20"/>
          <p:cNvSpPr>
            <a:spLocks noChangeArrowheads="1"/>
          </p:cNvSpPr>
          <p:nvPr/>
        </p:nvSpPr>
        <p:spPr bwMode="auto">
          <a:xfrm>
            <a:off x="8235951" y="3844926"/>
            <a:ext cx="1662113" cy="682625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altLang="zh-CN">
              <a:latin typeface="Times New Roman" charset="0"/>
              <a:ea typeface="黑体" charset="0"/>
              <a:cs typeface="黑体" charset="0"/>
            </a:endParaRPr>
          </a:p>
          <a:p>
            <a:pPr algn="ctr">
              <a:defRPr/>
            </a:pPr>
            <a:endParaRPr kumimoji="1" lang="en-US" altLang="zh-CN" sz="900">
              <a:latin typeface="Times New Roman" charset="0"/>
              <a:ea typeface="黑体" charset="0"/>
              <a:cs typeface="黑体" charset="0"/>
            </a:endParaRPr>
          </a:p>
          <a:p>
            <a:pPr algn="ctr">
              <a:defRPr/>
            </a:pPr>
            <a:endParaRPr kumimoji="1" lang="en-US" altLang="zh-CN">
              <a:latin typeface="Times New Roman" charset="0"/>
              <a:ea typeface="黑体" charset="0"/>
              <a:cs typeface="黑体" charset="0"/>
            </a:endParaRPr>
          </a:p>
        </p:txBody>
      </p:sp>
      <p:sp>
        <p:nvSpPr>
          <p:cNvPr id="8206" name="Text Box 21"/>
          <p:cNvSpPr txBox="1">
            <a:spLocks noChangeArrowheads="1"/>
          </p:cNvSpPr>
          <p:nvPr/>
        </p:nvSpPr>
        <p:spPr bwMode="auto">
          <a:xfrm>
            <a:off x="2225675" y="128270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发送方</a:t>
            </a:r>
          </a:p>
        </p:txBody>
      </p:sp>
      <p:sp>
        <p:nvSpPr>
          <p:cNvPr id="8207" name="Text Box 22"/>
          <p:cNvSpPr txBox="1">
            <a:spLocks noChangeArrowheads="1"/>
          </p:cNvSpPr>
          <p:nvPr/>
        </p:nvSpPr>
        <p:spPr bwMode="auto">
          <a:xfrm>
            <a:off x="8502650" y="128270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接收方</a:t>
            </a:r>
          </a:p>
        </p:txBody>
      </p:sp>
      <p:sp>
        <p:nvSpPr>
          <p:cNvPr id="6161" name="AutoShape 23"/>
          <p:cNvSpPr>
            <a:spLocks noChangeArrowheads="1"/>
          </p:cNvSpPr>
          <p:nvPr/>
        </p:nvSpPr>
        <p:spPr bwMode="auto">
          <a:xfrm>
            <a:off x="3495675" y="3087688"/>
            <a:ext cx="1206500" cy="609600"/>
          </a:xfrm>
          <a:prstGeom prst="wedgeRoundRectCallout">
            <a:avLst>
              <a:gd name="adj1" fmla="val -85792"/>
              <a:gd name="adj2" fmla="val 120833"/>
              <a:gd name="adj3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/>
          <a:lstStyle/>
          <a:p>
            <a:pPr algn="ctr">
              <a:defRPr/>
            </a:pPr>
            <a:endParaRPr kumimoji="1" lang="zh-CN">
              <a:latin typeface="Times New Roman" charset="0"/>
              <a:ea typeface="黑体" charset="0"/>
              <a:cs typeface="黑体" charset="0"/>
            </a:endParaRPr>
          </a:p>
        </p:txBody>
      </p:sp>
      <p:sp>
        <p:nvSpPr>
          <p:cNvPr id="8209" name="Text Box 24"/>
          <p:cNvSpPr txBox="1">
            <a:spLocks noChangeArrowheads="1"/>
          </p:cNvSpPr>
          <p:nvPr/>
        </p:nvSpPr>
        <p:spPr bwMode="auto">
          <a:xfrm>
            <a:off x="3455988" y="3070225"/>
            <a:ext cx="1327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把字节写入</a:t>
            </a:r>
          </a:p>
          <a:p>
            <a:pPr algn="ctr"/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发送缓存</a:t>
            </a:r>
          </a:p>
        </p:txBody>
      </p:sp>
      <p:sp>
        <p:nvSpPr>
          <p:cNvPr id="6163" name="AutoShape 25"/>
          <p:cNvSpPr>
            <a:spLocks noChangeArrowheads="1"/>
          </p:cNvSpPr>
          <p:nvPr/>
        </p:nvSpPr>
        <p:spPr bwMode="auto">
          <a:xfrm>
            <a:off x="7600950" y="2800350"/>
            <a:ext cx="1181100" cy="609600"/>
          </a:xfrm>
          <a:prstGeom prst="wedgeRoundRectCallout">
            <a:avLst>
              <a:gd name="adj1" fmla="val 80912"/>
              <a:gd name="adj2" fmla="val 178384"/>
              <a:gd name="adj3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/>
          <a:lstStyle/>
          <a:p>
            <a:pPr algn="ctr">
              <a:defRPr/>
            </a:pPr>
            <a:endParaRPr kumimoji="1" lang="zh-CN">
              <a:latin typeface="Times New Roman" charset="0"/>
              <a:ea typeface="黑体" charset="0"/>
              <a:cs typeface="黑体" charset="0"/>
            </a:endParaRPr>
          </a:p>
        </p:txBody>
      </p:sp>
      <p:sp>
        <p:nvSpPr>
          <p:cNvPr id="8211" name="Text Box 26"/>
          <p:cNvSpPr txBox="1">
            <a:spLocks noChangeArrowheads="1"/>
          </p:cNvSpPr>
          <p:nvPr/>
        </p:nvSpPr>
        <p:spPr bwMode="auto">
          <a:xfrm>
            <a:off x="7529513" y="2800350"/>
            <a:ext cx="1327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从接收缓存</a:t>
            </a:r>
          </a:p>
          <a:p>
            <a:pPr algn="ctr"/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读取字节</a:t>
            </a:r>
          </a:p>
        </p:txBody>
      </p:sp>
      <p:sp>
        <p:nvSpPr>
          <p:cNvPr id="8212" name="Text Box 27"/>
          <p:cNvSpPr txBox="1">
            <a:spLocks noChangeArrowheads="1"/>
          </p:cNvSpPr>
          <p:nvPr/>
        </p:nvSpPr>
        <p:spPr bwMode="auto">
          <a:xfrm>
            <a:off x="2992438" y="1882776"/>
            <a:ext cx="1200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应用进程</a:t>
            </a:r>
          </a:p>
        </p:txBody>
      </p:sp>
      <p:sp>
        <p:nvSpPr>
          <p:cNvPr id="8213" name="Text Box 28"/>
          <p:cNvSpPr txBox="1">
            <a:spLocks noChangeArrowheads="1"/>
          </p:cNvSpPr>
          <p:nvPr/>
        </p:nvSpPr>
        <p:spPr bwMode="auto">
          <a:xfrm>
            <a:off x="9280525" y="1827214"/>
            <a:ext cx="1200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应用进程</a:t>
            </a:r>
          </a:p>
        </p:txBody>
      </p:sp>
      <p:grpSp>
        <p:nvGrpSpPr>
          <p:cNvPr id="8214" name="Group 29"/>
          <p:cNvGrpSpPr>
            <a:grpSpLocks/>
          </p:cNvGrpSpPr>
          <p:nvPr/>
        </p:nvGrpSpPr>
        <p:grpSpPr bwMode="auto">
          <a:xfrm>
            <a:off x="9212263" y="2513014"/>
            <a:ext cx="215900" cy="1150937"/>
            <a:chOff x="3107" y="210"/>
            <a:chExt cx="136" cy="725"/>
          </a:xfrm>
        </p:grpSpPr>
        <p:sp>
          <p:nvSpPr>
            <p:cNvPr id="8270" name="Rectangle 30"/>
            <p:cNvSpPr>
              <a:spLocks noChangeArrowheads="1"/>
            </p:cNvSpPr>
            <p:nvPr/>
          </p:nvSpPr>
          <p:spPr bwMode="auto">
            <a:xfrm>
              <a:off x="3107" y="391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8271" name="Rectangle 31"/>
            <p:cNvSpPr>
              <a:spLocks noChangeArrowheads="1"/>
            </p:cNvSpPr>
            <p:nvPr/>
          </p:nvSpPr>
          <p:spPr bwMode="auto">
            <a:xfrm>
              <a:off x="3107" y="573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8272" name="Rectangle 32"/>
            <p:cNvSpPr>
              <a:spLocks noChangeArrowheads="1"/>
            </p:cNvSpPr>
            <p:nvPr/>
          </p:nvSpPr>
          <p:spPr bwMode="auto">
            <a:xfrm>
              <a:off x="3107" y="754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8273" name="Rectangle 33"/>
            <p:cNvSpPr>
              <a:spLocks noChangeArrowheads="1"/>
            </p:cNvSpPr>
            <p:nvPr/>
          </p:nvSpPr>
          <p:spPr bwMode="auto">
            <a:xfrm>
              <a:off x="3107" y="210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</p:txBody>
        </p:sp>
      </p:grpSp>
      <p:sp>
        <p:nvSpPr>
          <p:cNvPr id="8215" name="Rectangle 34"/>
          <p:cNvSpPr>
            <a:spLocks noChangeArrowheads="1"/>
          </p:cNvSpPr>
          <p:nvPr/>
        </p:nvSpPr>
        <p:spPr bwMode="auto">
          <a:xfrm>
            <a:off x="2200275" y="4168775"/>
            <a:ext cx="215900" cy="287338"/>
          </a:xfrm>
          <a:prstGeom prst="rect">
            <a:avLst/>
          </a:prstGeom>
          <a:solidFill>
            <a:srgbClr val="66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18</a:t>
            </a:r>
          </a:p>
        </p:txBody>
      </p:sp>
      <p:sp>
        <p:nvSpPr>
          <p:cNvPr id="8216" name="Rectangle 35"/>
          <p:cNvSpPr>
            <a:spLocks noChangeArrowheads="1"/>
          </p:cNvSpPr>
          <p:nvPr/>
        </p:nvSpPr>
        <p:spPr bwMode="auto">
          <a:xfrm>
            <a:off x="2416175" y="4168775"/>
            <a:ext cx="215900" cy="287338"/>
          </a:xfrm>
          <a:prstGeom prst="rect">
            <a:avLst/>
          </a:prstGeom>
          <a:solidFill>
            <a:srgbClr val="66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17</a:t>
            </a:r>
          </a:p>
        </p:txBody>
      </p:sp>
      <p:sp>
        <p:nvSpPr>
          <p:cNvPr id="8217" name="Rectangle 36"/>
          <p:cNvSpPr>
            <a:spLocks noChangeArrowheads="1"/>
          </p:cNvSpPr>
          <p:nvPr/>
        </p:nvSpPr>
        <p:spPr bwMode="auto">
          <a:xfrm>
            <a:off x="2632075" y="4168775"/>
            <a:ext cx="215900" cy="287338"/>
          </a:xfrm>
          <a:prstGeom prst="rect">
            <a:avLst/>
          </a:prstGeom>
          <a:solidFill>
            <a:srgbClr val="66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218" name="Rectangle 37"/>
          <p:cNvSpPr>
            <a:spLocks noChangeArrowheads="1"/>
          </p:cNvSpPr>
          <p:nvPr/>
        </p:nvSpPr>
        <p:spPr bwMode="auto">
          <a:xfrm>
            <a:off x="2847975" y="4168775"/>
            <a:ext cx="215900" cy="287338"/>
          </a:xfrm>
          <a:prstGeom prst="rect">
            <a:avLst/>
          </a:prstGeom>
          <a:solidFill>
            <a:srgbClr val="66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15</a:t>
            </a:r>
          </a:p>
        </p:txBody>
      </p:sp>
      <p:sp>
        <p:nvSpPr>
          <p:cNvPr id="8219" name="Rectangle 38"/>
          <p:cNvSpPr>
            <a:spLocks noChangeArrowheads="1"/>
          </p:cNvSpPr>
          <p:nvPr/>
        </p:nvSpPr>
        <p:spPr bwMode="auto">
          <a:xfrm>
            <a:off x="3063875" y="4168775"/>
            <a:ext cx="215900" cy="287338"/>
          </a:xfrm>
          <a:prstGeom prst="rect">
            <a:avLst/>
          </a:prstGeom>
          <a:solidFill>
            <a:srgbClr val="66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14</a:t>
            </a:r>
          </a:p>
        </p:txBody>
      </p:sp>
      <p:grpSp>
        <p:nvGrpSpPr>
          <p:cNvPr id="8220" name="Group 39"/>
          <p:cNvGrpSpPr>
            <a:grpSpLocks/>
          </p:cNvGrpSpPr>
          <p:nvPr/>
        </p:nvGrpSpPr>
        <p:grpSpPr bwMode="auto">
          <a:xfrm>
            <a:off x="2919413" y="2584450"/>
            <a:ext cx="215900" cy="863600"/>
            <a:chOff x="1429" y="164"/>
            <a:chExt cx="136" cy="544"/>
          </a:xfrm>
        </p:grpSpPr>
        <p:sp>
          <p:nvSpPr>
            <p:cNvPr id="8267" name="Rectangle 40"/>
            <p:cNvSpPr>
              <a:spLocks noChangeArrowheads="1"/>
            </p:cNvSpPr>
            <p:nvPr/>
          </p:nvSpPr>
          <p:spPr bwMode="auto">
            <a:xfrm>
              <a:off x="1429" y="527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19</a:t>
              </a:r>
            </a:p>
          </p:txBody>
        </p:sp>
        <p:sp>
          <p:nvSpPr>
            <p:cNvPr id="8268" name="Rectangle 41"/>
            <p:cNvSpPr>
              <a:spLocks noChangeArrowheads="1"/>
            </p:cNvSpPr>
            <p:nvPr/>
          </p:nvSpPr>
          <p:spPr bwMode="auto">
            <a:xfrm>
              <a:off x="1429" y="346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20</a:t>
              </a:r>
            </a:p>
          </p:txBody>
        </p:sp>
        <p:sp>
          <p:nvSpPr>
            <p:cNvPr id="8269" name="Rectangle 42"/>
            <p:cNvSpPr>
              <a:spLocks noChangeArrowheads="1"/>
            </p:cNvSpPr>
            <p:nvPr/>
          </p:nvSpPr>
          <p:spPr bwMode="auto">
            <a:xfrm>
              <a:off x="1429" y="164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21</a:t>
              </a:r>
            </a:p>
          </p:txBody>
        </p:sp>
      </p:grpSp>
      <p:grpSp>
        <p:nvGrpSpPr>
          <p:cNvPr id="8221" name="Group 43"/>
          <p:cNvGrpSpPr>
            <a:grpSpLocks/>
          </p:cNvGrpSpPr>
          <p:nvPr/>
        </p:nvGrpSpPr>
        <p:grpSpPr bwMode="auto">
          <a:xfrm>
            <a:off x="8853488" y="4167189"/>
            <a:ext cx="431800" cy="287337"/>
            <a:chOff x="2789" y="1842"/>
            <a:chExt cx="272" cy="181"/>
          </a:xfrm>
        </p:grpSpPr>
        <p:sp>
          <p:nvSpPr>
            <p:cNvPr id="8265" name="Rectangle 44"/>
            <p:cNvSpPr>
              <a:spLocks noChangeArrowheads="1"/>
            </p:cNvSpPr>
            <p:nvPr/>
          </p:nvSpPr>
          <p:spPr bwMode="auto">
            <a:xfrm>
              <a:off x="2925" y="1842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8266" name="Rectangle 45"/>
            <p:cNvSpPr>
              <a:spLocks noChangeArrowheads="1"/>
            </p:cNvSpPr>
            <p:nvPr/>
          </p:nvSpPr>
          <p:spPr bwMode="auto">
            <a:xfrm>
              <a:off x="2789" y="1842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5</a:t>
              </a:r>
            </a:p>
          </p:txBody>
        </p:sp>
      </p:grpSp>
      <p:grpSp>
        <p:nvGrpSpPr>
          <p:cNvPr id="8222" name="Group 46"/>
          <p:cNvGrpSpPr>
            <a:grpSpLocks/>
          </p:cNvGrpSpPr>
          <p:nvPr/>
        </p:nvGrpSpPr>
        <p:grpSpPr bwMode="auto">
          <a:xfrm>
            <a:off x="3352800" y="4887914"/>
            <a:ext cx="863600" cy="287337"/>
            <a:chOff x="2200" y="1298"/>
            <a:chExt cx="544" cy="181"/>
          </a:xfrm>
        </p:grpSpPr>
        <p:sp>
          <p:nvSpPr>
            <p:cNvPr id="8261" name="Rectangle 47"/>
            <p:cNvSpPr>
              <a:spLocks noChangeArrowheads="1"/>
            </p:cNvSpPr>
            <p:nvPr/>
          </p:nvSpPr>
          <p:spPr bwMode="auto">
            <a:xfrm>
              <a:off x="2200" y="1298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13</a:t>
              </a:r>
            </a:p>
          </p:txBody>
        </p:sp>
        <p:sp>
          <p:nvSpPr>
            <p:cNvPr id="8262" name="Rectangle 48"/>
            <p:cNvSpPr>
              <a:spLocks noChangeArrowheads="1"/>
            </p:cNvSpPr>
            <p:nvPr/>
          </p:nvSpPr>
          <p:spPr bwMode="auto">
            <a:xfrm>
              <a:off x="2336" y="1298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12</a:t>
              </a:r>
            </a:p>
          </p:txBody>
        </p:sp>
        <p:sp>
          <p:nvSpPr>
            <p:cNvPr id="8263" name="Rectangle 49"/>
            <p:cNvSpPr>
              <a:spLocks noChangeArrowheads="1"/>
            </p:cNvSpPr>
            <p:nvPr/>
          </p:nvSpPr>
          <p:spPr bwMode="auto">
            <a:xfrm>
              <a:off x="2472" y="1298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11</a:t>
              </a:r>
            </a:p>
          </p:txBody>
        </p:sp>
        <p:sp>
          <p:nvSpPr>
            <p:cNvPr id="8264" name="Rectangle 50"/>
            <p:cNvSpPr>
              <a:spLocks noChangeArrowheads="1"/>
            </p:cNvSpPr>
            <p:nvPr/>
          </p:nvSpPr>
          <p:spPr bwMode="auto">
            <a:xfrm>
              <a:off x="2608" y="1298"/>
              <a:ext cx="136" cy="18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H</a:t>
              </a:r>
            </a:p>
          </p:txBody>
        </p:sp>
      </p:grpSp>
      <p:grpSp>
        <p:nvGrpSpPr>
          <p:cNvPr id="8223" name="Group 51"/>
          <p:cNvGrpSpPr>
            <a:grpSpLocks/>
          </p:cNvGrpSpPr>
          <p:nvPr/>
        </p:nvGrpSpPr>
        <p:grpSpPr bwMode="auto">
          <a:xfrm>
            <a:off x="5141913" y="4889500"/>
            <a:ext cx="431800" cy="287338"/>
            <a:chOff x="2290" y="482"/>
            <a:chExt cx="272" cy="181"/>
          </a:xfrm>
        </p:grpSpPr>
        <p:sp>
          <p:nvSpPr>
            <p:cNvPr id="8259" name="Rectangle 52"/>
            <p:cNvSpPr>
              <a:spLocks noChangeArrowheads="1"/>
            </p:cNvSpPr>
            <p:nvPr/>
          </p:nvSpPr>
          <p:spPr bwMode="auto">
            <a:xfrm>
              <a:off x="2290" y="482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10</a:t>
              </a:r>
            </a:p>
          </p:txBody>
        </p:sp>
        <p:sp>
          <p:nvSpPr>
            <p:cNvPr id="8260" name="Rectangle 53"/>
            <p:cNvSpPr>
              <a:spLocks noChangeArrowheads="1"/>
            </p:cNvSpPr>
            <p:nvPr/>
          </p:nvSpPr>
          <p:spPr bwMode="auto">
            <a:xfrm>
              <a:off x="2426" y="482"/>
              <a:ext cx="136" cy="181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黑体" panose="02010609060101010101" pitchFamily="49" charset="-122"/>
                </a:rPr>
                <a:t>9</a:t>
              </a:r>
            </a:p>
          </p:txBody>
        </p:sp>
      </p:grpSp>
      <p:sp>
        <p:nvSpPr>
          <p:cNvPr id="8224" name="Rectangle 54"/>
          <p:cNvSpPr>
            <a:spLocks noChangeArrowheads="1"/>
          </p:cNvSpPr>
          <p:nvPr/>
        </p:nvSpPr>
        <p:spPr bwMode="auto">
          <a:xfrm>
            <a:off x="5573713" y="4889500"/>
            <a:ext cx="215900" cy="287338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</a:p>
        </p:txBody>
      </p:sp>
      <p:sp>
        <p:nvSpPr>
          <p:cNvPr id="6178" name="AutoShape 55"/>
          <p:cNvSpPr>
            <a:spLocks noChangeArrowheads="1"/>
          </p:cNvSpPr>
          <p:nvPr/>
        </p:nvSpPr>
        <p:spPr bwMode="auto">
          <a:xfrm>
            <a:off x="3819525" y="3829050"/>
            <a:ext cx="1873250" cy="609600"/>
          </a:xfrm>
          <a:prstGeom prst="wedgeRoundRectCallout">
            <a:avLst>
              <a:gd name="adj1" fmla="val -73306"/>
              <a:gd name="adj2" fmla="val 126301"/>
              <a:gd name="adj3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/>
          <a:lstStyle/>
          <a:p>
            <a:pPr algn="ctr">
              <a:defRPr/>
            </a:pPr>
            <a:endParaRPr kumimoji="1" lang="zh-CN">
              <a:latin typeface="Times New Roman" charset="0"/>
              <a:ea typeface="黑体" charset="0"/>
              <a:cs typeface="黑体" charset="0"/>
            </a:endParaRPr>
          </a:p>
        </p:txBody>
      </p:sp>
      <p:sp>
        <p:nvSpPr>
          <p:cNvPr id="8226" name="Text Box 56"/>
          <p:cNvSpPr txBox="1">
            <a:spLocks noChangeArrowheads="1"/>
          </p:cNvSpPr>
          <p:nvPr/>
        </p:nvSpPr>
        <p:spPr bwMode="auto">
          <a:xfrm>
            <a:off x="3805238" y="3800475"/>
            <a:ext cx="1860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加上 </a:t>
            </a:r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TCP </a:t>
            </a:r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首部</a:t>
            </a:r>
          </a:p>
          <a:p>
            <a:pPr algn="ctr"/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构成 </a:t>
            </a:r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TCP </a:t>
            </a:r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报文段</a:t>
            </a:r>
          </a:p>
        </p:txBody>
      </p:sp>
      <p:sp>
        <p:nvSpPr>
          <p:cNvPr id="8227" name="Line 57"/>
          <p:cNvSpPr>
            <a:spLocks noChangeShapeType="1"/>
          </p:cNvSpPr>
          <p:nvPr/>
        </p:nvSpPr>
        <p:spPr bwMode="auto">
          <a:xfrm>
            <a:off x="3233738" y="2740026"/>
            <a:ext cx="0" cy="576263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8" name="Line 58"/>
          <p:cNvSpPr>
            <a:spLocks noChangeShapeType="1"/>
          </p:cNvSpPr>
          <p:nvPr/>
        </p:nvSpPr>
        <p:spPr bwMode="auto">
          <a:xfrm flipV="1">
            <a:off x="9501188" y="2800351"/>
            <a:ext cx="0" cy="576263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9" name="Text Box 59"/>
          <p:cNvSpPr txBox="1">
            <a:spLocks noChangeArrowheads="1"/>
          </p:cNvSpPr>
          <p:nvPr/>
        </p:nvSpPr>
        <p:spPr bwMode="auto">
          <a:xfrm>
            <a:off x="1919288" y="3775075"/>
            <a:ext cx="1433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TCP_Sender</a:t>
            </a:r>
          </a:p>
        </p:txBody>
      </p:sp>
      <p:sp>
        <p:nvSpPr>
          <p:cNvPr id="8230" name="Text Box 60"/>
          <p:cNvSpPr txBox="1">
            <a:spLocks noChangeArrowheads="1"/>
          </p:cNvSpPr>
          <p:nvPr/>
        </p:nvSpPr>
        <p:spPr bwMode="auto">
          <a:xfrm>
            <a:off x="8201025" y="3784601"/>
            <a:ext cx="1697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TCP_Receiver</a:t>
            </a:r>
          </a:p>
        </p:txBody>
      </p:sp>
      <p:sp>
        <p:nvSpPr>
          <p:cNvPr id="8231" name="Text Box 61"/>
          <p:cNvSpPr txBox="1">
            <a:spLocks noChangeArrowheads="1"/>
          </p:cNvSpPr>
          <p:nvPr/>
        </p:nvSpPr>
        <p:spPr bwMode="auto">
          <a:xfrm>
            <a:off x="3208338" y="2484438"/>
            <a:ext cx="869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字节流</a:t>
            </a:r>
          </a:p>
        </p:txBody>
      </p:sp>
      <p:sp>
        <p:nvSpPr>
          <p:cNvPr id="8232" name="Text Box 62"/>
          <p:cNvSpPr txBox="1">
            <a:spLocks noChangeArrowheads="1"/>
          </p:cNvSpPr>
          <p:nvPr/>
        </p:nvSpPr>
        <p:spPr bwMode="auto">
          <a:xfrm>
            <a:off x="9426575" y="2484438"/>
            <a:ext cx="869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字节流</a:t>
            </a:r>
          </a:p>
        </p:txBody>
      </p:sp>
      <p:sp>
        <p:nvSpPr>
          <p:cNvPr id="8233" name="Rectangle 63"/>
          <p:cNvSpPr>
            <a:spLocks noChangeArrowheads="1"/>
          </p:cNvSpPr>
          <p:nvPr/>
        </p:nvSpPr>
        <p:spPr bwMode="auto">
          <a:xfrm>
            <a:off x="4864100" y="1792289"/>
            <a:ext cx="215900" cy="287337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</a:p>
        </p:txBody>
      </p:sp>
      <p:sp>
        <p:nvSpPr>
          <p:cNvPr id="8234" name="Text Box 64"/>
          <p:cNvSpPr txBox="1">
            <a:spLocks noChangeArrowheads="1"/>
          </p:cNvSpPr>
          <p:nvPr/>
        </p:nvSpPr>
        <p:spPr bwMode="auto">
          <a:xfrm>
            <a:off x="5153025" y="1768476"/>
            <a:ext cx="2546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表示 </a:t>
            </a:r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TCP </a:t>
            </a:r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报文段的首部</a:t>
            </a:r>
          </a:p>
        </p:txBody>
      </p:sp>
      <p:sp>
        <p:nvSpPr>
          <p:cNvPr id="8235" name="Rectangle 65"/>
          <p:cNvSpPr>
            <a:spLocks noChangeArrowheads="1"/>
          </p:cNvSpPr>
          <p:nvPr/>
        </p:nvSpPr>
        <p:spPr bwMode="auto">
          <a:xfrm>
            <a:off x="4864100" y="2224089"/>
            <a:ext cx="215900" cy="287337"/>
          </a:xfrm>
          <a:prstGeom prst="rect">
            <a:avLst/>
          </a:prstGeom>
          <a:solidFill>
            <a:srgbClr val="66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8236" name="Text Box 66"/>
          <p:cNvSpPr txBox="1">
            <a:spLocks noChangeArrowheads="1"/>
          </p:cNvSpPr>
          <p:nvPr/>
        </p:nvSpPr>
        <p:spPr bwMode="auto">
          <a:xfrm>
            <a:off x="5153025" y="2200276"/>
            <a:ext cx="2698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表示序号为 </a:t>
            </a:r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的数据字节</a:t>
            </a:r>
          </a:p>
        </p:txBody>
      </p:sp>
      <p:sp>
        <p:nvSpPr>
          <p:cNvPr id="8237" name="AutoShape 67"/>
          <p:cNvSpPr>
            <a:spLocks noChangeArrowheads="1"/>
          </p:cNvSpPr>
          <p:nvPr/>
        </p:nvSpPr>
        <p:spPr bwMode="auto">
          <a:xfrm rot="-5400000">
            <a:off x="5764213" y="2403476"/>
            <a:ext cx="360363" cy="6049962"/>
          </a:xfrm>
          <a:prstGeom prst="can">
            <a:avLst>
              <a:gd name="adj" fmla="val 28603"/>
            </a:avLst>
          </a:prstGeom>
          <a:gradFill rotWithShape="1">
            <a:gsLst>
              <a:gs pos="0">
                <a:srgbClr val="939300"/>
              </a:gs>
              <a:gs pos="50000">
                <a:srgbClr val="FFFF00"/>
              </a:gs>
              <a:gs pos="100000">
                <a:srgbClr val="939300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8238" name="Text Box 68"/>
          <p:cNvSpPr txBox="1">
            <a:spLocks noChangeArrowheads="1"/>
          </p:cNvSpPr>
          <p:nvPr/>
        </p:nvSpPr>
        <p:spPr bwMode="auto">
          <a:xfrm>
            <a:off x="4360863" y="5224463"/>
            <a:ext cx="19161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模拟</a:t>
            </a:r>
            <a:r>
              <a:rPr lang="en-US" altLang="zh-CN" sz="1800">
                <a:latin typeface="Times New Roman" panose="02020603050405020304" pitchFamily="18" charset="0"/>
                <a:ea typeface="黑体" panose="02010609060101010101" pitchFamily="49" charset="-122"/>
              </a:rPr>
              <a:t>TCP </a:t>
            </a:r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连接</a:t>
            </a:r>
          </a:p>
        </p:txBody>
      </p:sp>
      <p:sp>
        <p:nvSpPr>
          <p:cNvPr id="8239" name="Freeform 69"/>
          <p:cNvSpPr>
            <a:spLocks/>
          </p:cNvSpPr>
          <p:nvPr/>
        </p:nvSpPr>
        <p:spPr bwMode="auto">
          <a:xfrm>
            <a:off x="2784476" y="4527551"/>
            <a:ext cx="200025" cy="892175"/>
          </a:xfrm>
          <a:custGeom>
            <a:avLst/>
            <a:gdLst>
              <a:gd name="T0" fmla="*/ 0 w 108"/>
              <a:gd name="T1" fmla="*/ 0 h 590"/>
              <a:gd name="T2" fmla="*/ 0 w 108"/>
              <a:gd name="T3" fmla="*/ 2147483647 h 590"/>
              <a:gd name="T4" fmla="*/ 2147483647 w 108"/>
              <a:gd name="T5" fmla="*/ 2147483647 h 590"/>
              <a:gd name="T6" fmla="*/ 0 60000 65536"/>
              <a:gd name="T7" fmla="*/ 0 60000 65536"/>
              <a:gd name="T8" fmla="*/ 0 60000 65536"/>
              <a:gd name="T9" fmla="*/ 0 w 108"/>
              <a:gd name="T10" fmla="*/ 0 h 590"/>
              <a:gd name="T11" fmla="*/ 108 w 108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8" h="590">
                <a:moveTo>
                  <a:pt x="0" y="0"/>
                </a:moveTo>
                <a:lnTo>
                  <a:pt x="0" y="590"/>
                </a:lnTo>
                <a:lnTo>
                  <a:pt x="108" y="587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240" name="Group 34"/>
          <p:cNvGrpSpPr>
            <a:grpSpLocks/>
          </p:cNvGrpSpPr>
          <p:nvPr/>
        </p:nvGrpSpPr>
        <p:grpSpPr bwMode="auto">
          <a:xfrm>
            <a:off x="6289675" y="4924426"/>
            <a:ext cx="541338" cy="923925"/>
            <a:chOff x="1811" y="1379"/>
            <a:chExt cx="131" cy="258"/>
          </a:xfrm>
        </p:grpSpPr>
        <p:sp>
          <p:nvSpPr>
            <p:cNvPr id="8251" name="AutoShape 35"/>
            <p:cNvSpPr>
              <a:spLocks noChangeArrowheads="1"/>
            </p:cNvSpPr>
            <p:nvPr/>
          </p:nvSpPr>
          <p:spPr bwMode="auto">
            <a:xfrm>
              <a:off x="1811" y="1577"/>
              <a:ext cx="131" cy="60"/>
            </a:xfrm>
            <a:prstGeom prst="parallelogram">
              <a:avLst>
                <a:gd name="adj" fmla="val 84109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8252" name="Rectangle 36"/>
            <p:cNvSpPr>
              <a:spLocks noChangeArrowheads="1"/>
            </p:cNvSpPr>
            <p:nvPr/>
          </p:nvSpPr>
          <p:spPr bwMode="auto">
            <a:xfrm>
              <a:off x="1877" y="1381"/>
              <a:ext cx="61" cy="198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8253" name="Rectangle 37"/>
            <p:cNvSpPr>
              <a:spLocks noChangeArrowheads="1"/>
            </p:cNvSpPr>
            <p:nvPr/>
          </p:nvSpPr>
          <p:spPr bwMode="auto">
            <a:xfrm>
              <a:off x="1812" y="1437"/>
              <a:ext cx="83" cy="19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8254" name="AutoShape 38"/>
            <p:cNvSpPr>
              <a:spLocks noChangeArrowheads="1"/>
            </p:cNvSpPr>
            <p:nvPr/>
          </p:nvSpPr>
          <p:spPr bwMode="auto">
            <a:xfrm>
              <a:off x="1811" y="1379"/>
              <a:ext cx="131" cy="60"/>
            </a:xfrm>
            <a:prstGeom prst="parallelogram">
              <a:avLst>
                <a:gd name="adj" fmla="val 84109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8255" name="Line 39"/>
            <p:cNvSpPr>
              <a:spLocks noChangeShapeType="1"/>
            </p:cNvSpPr>
            <p:nvPr/>
          </p:nvSpPr>
          <p:spPr bwMode="auto">
            <a:xfrm>
              <a:off x="1942" y="1383"/>
              <a:ext cx="0" cy="1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6" name="Line 40"/>
            <p:cNvSpPr>
              <a:spLocks noChangeShapeType="1"/>
            </p:cNvSpPr>
            <p:nvPr/>
          </p:nvSpPr>
          <p:spPr bwMode="auto">
            <a:xfrm flipH="1">
              <a:off x="1895" y="1577"/>
              <a:ext cx="47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7" name="Rectangle 41"/>
            <p:cNvSpPr>
              <a:spLocks noChangeArrowheads="1"/>
            </p:cNvSpPr>
            <p:nvPr/>
          </p:nvSpPr>
          <p:spPr bwMode="auto">
            <a:xfrm>
              <a:off x="1822" y="1463"/>
              <a:ext cx="55" cy="11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8258" name="Rectangle 42"/>
            <p:cNvSpPr>
              <a:spLocks noChangeArrowheads="1"/>
            </p:cNvSpPr>
            <p:nvPr/>
          </p:nvSpPr>
          <p:spPr bwMode="auto">
            <a:xfrm>
              <a:off x="1830" y="1497"/>
              <a:ext cx="42" cy="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sp>
        <p:nvSpPr>
          <p:cNvPr id="8241" name="Rectangle 53"/>
          <p:cNvSpPr>
            <a:spLocks noChangeArrowheads="1"/>
          </p:cNvSpPr>
          <p:nvPr/>
        </p:nvSpPr>
        <p:spPr bwMode="auto">
          <a:xfrm>
            <a:off x="5287964" y="5881689"/>
            <a:ext cx="227647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lang="en-US" altLang="zh-CN" sz="1800" b="1">
                <a:latin typeface="Times New Roman" panose="02020603050405020304" pitchFamily="18" charset="0"/>
                <a:ea typeface="黑体" panose="02010609060101010101" pitchFamily="49" charset="-122"/>
              </a:rPr>
              <a:t>Server</a:t>
            </a:r>
          </a:p>
          <a:p>
            <a:pPr algn="ctr" eaLnBrk="0" hangingPunct="0"/>
            <a:r>
              <a:rPr lang="zh-CN" altLang="en-US" sz="1800" b="1">
                <a:latin typeface="Times New Roman" panose="02020603050405020304" pitchFamily="18" charset="0"/>
                <a:ea typeface="黑体" panose="02010609060101010101" pitchFamily="49" charset="-122"/>
              </a:rPr>
              <a:t>（转发控制和记录）</a:t>
            </a:r>
          </a:p>
        </p:txBody>
      </p:sp>
      <p:pic>
        <p:nvPicPr>
          <p:cNvPr id="8242" name="Picture 2" descr="C:\Documents and Settings\Administrator\Local Settings\Temporary Internet Files\Content.IE5\SLIFLNE6\MC900250897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776" y="3532189"/>
            <a:ext cx="549275" cy="75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43" name="TextBox 38"/>
          <p:cNvSpPr txBox="1">
            <a:spLocks noChangeArrowheads="1"/>
          </p:cNvSpPr>
          <p:nvPr/>
        </p:nvSpPr>
        <p:spPr bwMode="auto">
          <a:xfrm>
            <a:off x="5878513" y="4494214"/>
            <a:ext cx="596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1400" b="1"/>
              <a:t>丢弃</a:t>
            </a:r>
          </a:p>
        </p:txBody>
      </p:sp>
      <p:pic>
        <p:nvPicPr>
          <p:cNvPr id="8244" name="Picture 4" descr="C:\Program Files\Microsoft Office\MEDIA\CAGCAT10\j0234131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863" y="3505201"/>
            <a:ext cx="6731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" name="曲线连接符 102"/>
          <p:cNvCxnSpPr>
            <a:stCxn id="8254" idx="0"/>
          </p:cNvCxnSpPr>
          <p:nvPr/>
        </p:nvCxnSpPr>
        <p:spPr>
          <a:xfrm rot="16200000" flipV="1">
            <a:off x="5975351" y="4338638"/>
            <a:ext cx="641350" cy="530225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曲线连接符 103"/>
          <p:cNvCxnSpPr>
            <a:stCxn id="8254" idx="1"/>
          </p:cNvCxnSpPr>
          <p:nvPr/>
        </p:nvCxnSpPr>
        <p:spPr>
          <a:xfrm rot="5400000" flipH="1" flipV="1">
            <a:off x="6727033" y="4287045"/>
            <a:ext cx="560387" cy="714375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47" name="TextBox 48"/>
          <p:cNvSpPr txBox="1">
            <a:spLocks noChangeArrowheads="1"/>
          </p:cNvSpPr>
          <p:nvPr/>
        </p:nvSpPr>
        <p:spPr bwMode="auto">
          <a:xfrm>
            <a:off x="6624638" y="4133851"/>
            <a:ext cx="571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1400" b="1"/>
              <a:t>延迟</a:t>
            </a:r>
          </a:p>
        </p:txBody>
      </p:sp>
      <p:sp>
        <p:nvSpPr>
          <p:cNvPr id="8248" name="TextBox 49"/>
          <p:cNvSpPr txBox="1">
            <a:spLocks noChangeArrowheads="1"/>
          </p:cNvSpPr>
          <p:nvPr/>
        </p:nvSpPr>
        <p:spPr bwMode="auto">
          <a:xfrm>
            <a:off x="6913563" y="4710114"/>
            <a:ext cx="571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1400" b="1"/>
              <a:t>出错</a:t>
            </a:r>
          </a:p>
        </p:txBody>
      </p:sp>
      <p:cxnSp>
        <p:nvCxnSpPr>
          <p:cNvPr id="107" name="直接箭头连接符 106"/>
          <p:cNvCxnSpPr>
            <a:endCxn id="8275" idx="1"/>
          </p:cNvCxnSpPr>
          <p:nvPr/>
        </p:nvCxnSpPr>
        <p:spPr>
          <a:xfrm flipV="1">
            <a:off x="6831014" y="5030788"/>
            <a:ext cx="554037" cy="31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标题 2"/>
          <p:cNvSpPr>
            <a:spLocks noGrp="1"/>
          </p:cNvSpPr>
          <p:nvPr>
            <p:ph type="title"/>
          </p:nvPr>
        </p:nvSpPr>
        <p:spPr>
          <a:xfrm>
            <a:off x="273050" y="0"/>
            <a:ext cx="8229600" cy="922338"/>
          </a:xfrm>
        </p:spPr>
        <p:txBody>
          <a:bodyPr>
            <a:normAutofit/>
          </a:bodyPr>
          <a:lstStyle/>
          <a:p>
            <a:r>
              <a:rPr kumimoji="0" lang="en-US" altLang="zh-CN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方正姚体" panose="02010601030101010101" pitchFamily="2" charset="-122"/>
                <a:cs typeface="Arial" panose="020B0604020202020204" pitchFamily="34" charset="0"/>
              </a:rPr>
              <a:t>TCP</a:t>
            </a:r>
            <a:r>
              <a:rPr kumimoji="0" lang="zh-CN" altLang="en-US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方正姚体" panose="02010601030101010101" pitchFamily="2" charset="-122"/>
                <a:cs typeface="Arial" panose="020B0604020202020204" pitchFamily="34" charset="0"/>
              </a:rPr>
              <a:t>实验系统工作原理</a:t>
            </a:r>
            <a:endParaRPr kumimoji="0" lang="zh-CN" altLang="en-US" sz="3600" dirty="0">
              <a:latin typeface="Arial" panose="020B0604020202020204" pitchFamily="34" charset="0"/>
              <a:ea typeface="方正姚体" panose="02010601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2"/>
          <p:cNvSpPr>
            <a:spLocks noGrp="1"/>
          </p:cNvSpPr>
          <p:nvPr>
            <p:ph type="title"/>
          </p:nvPr>
        </p:nvSpPr>
        <p:spPr>
          <a:xfrm>
            <a:off x="479376" y="89498"/>
            <a:ext cx="8229600" cy="850900"/>
          </a:xfrm>
        </p:spPr>
        <p:txBody>
          <a:bodyPr>
            <a:normAutofit/>
          </a:bodyPr>
          <a:lstStyle/>
          <a:p>
            <a:r>
              <a:rPr kumimoji="0" lang="zh-CN" altLang="en-US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方正姚体" panose="02010601030101010101" pitchFamily="2" charset="-122"/>
                <a:cs typeface="Arial" panose="020B0604020202020204" pitchFamily="34" charset="0"/>
              </a:rPr>
              <a:t>实验内容</a:t>
            </a:r>
          </a:p>
        </p:txBody>
      </p:sp>
      <p:sp>
        <p:nvSpPr>
          <p:cNvPr id="9218" name="内容占位符 1"/>
          <p:cNvSpPr>
            <a:spLocks noGrp="1"/>
          </p:cNvSpPr>
          <p:nvPr>
            <p:ph idx="1"/>
          </p:nvPr>
        </p:nvSpPr>
        <p:spPr>
          <a:xfrm>
            <a:off x="479376" y="1152897"/>
            <a:ext cx="6768752" cy="5444455"/>
          </a:xfrm>
        </p:spPr>
        <p:txBody>
          <a:bodyPr/>
          <a:lstStyle/>
          <a:p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评分：参见实验报告和评分表</a:t>
            </a:r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实验报告要求：从实验数据文件中自己说明实现了相关功能</a:t>
            </a:r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调试：设置</a:t>
            </a:r>
            <a:r>
              <a:rPr kumimoji="0"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TCP</a:t>
            </a:r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首部中的</a:t>
            </a:r>
            <a:r>
              <a:rPr kumimoji="0" lang="en-US" altLang="zh-CN" sz="2000" dirty="0" err="1">
                <a:latin typeface="Georgia" panose="02040502050405020303" pitchFamily="18" charset="0"/>
                <a:ea typeface="宋体" panose="02010600030101010101" pitchFamily="2" charset="-122"/>
              </a:rPr>
              <a:t>eFlag</a:t>
            </a:r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指明支持处理的错误类型，包括：</a:t>
            </a:r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服务器端</a:t>
            </a:r>
            <a:r>
              <a:rPr kumimoji="0"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Log</a:t>
            </a:r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日志：记录所有数据包的传输（</a:t>
            </a:r>
            <a:r>
              <a:rPr kumimoji="0"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DATA</a:t>
            </a:r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和</a:t>
            </a:r>
            <a:r>
              <a:rPr kumimoji="0"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ACK</a:t>
            </a:r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）</a:t>
            </a:r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成绩评定：实验报告 </a:t>
            </a:r>
            <a:r>
              <a:rPr kumimoji="0"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+ Log</a:t>
            </a:r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文件 </a:t>
            </a:r>
            <a:r>
              <a:rPr kumimoji="0"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+ </a:t>
            </a:r>
            <a:r>
              <a:rPr kumimoji="0" lang="en-US" altLang="zh-CN" sz="2000" dirty="0" err="1">
                <a:latin typeface="Georgia" panose="02040502050405020303" pitchFamily="18" charset="0"/>
                <a:ea typeface="宋体" panose="02010600030101010101" pitchFamily="2" charset="-122"/>
              </a:rPr>
              <a:t>recvData</a:t>
            </a:r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文件＋代码包</a:t>
            </a:r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评定准则：报告通过</a:t>
            </a:r>
            <a:r>
              <a:rPr kumimoji="0"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代码及</a:t>
            </a:r>
            <a:r>
              <a:rPr kumimoji="0"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Log </a:t>
            </a:r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文件证明实现了每项要求的功能</a:t>
            </a:r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endParaRPr kumimoji="0" lang="zh-CN" altLang="en-US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4781" y="2924944"/>
            <a:ext cx="6642077" cy="230832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0.</a:t>
            </a:r>
            <a:r>
              <a:rPr lang="zh-CN" altLang="en-US" dirty="0">
                <a:solidFill>
                  <a:srgbClr val="0070C0"/>
                </a:solidFill>
                <a:latin typeface="+mn-lt"/>
                <a:ea typeface="+mn-ea"/>
              </a:rPr>
              <a:t>信道无差错</a:t>
            </a:r>
            <a:endParaRPr lang="en-US" altLang="zh-CN" dirty="0">
              <a:solidFill>
                <a:srgbClr val="0070C0"/>
              </a:solidFill>
              <a:latin typeface="+mn-lt"/>
              <a:ea typeface="+mn-e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1.</a:t>
            </a:r>
            <a:r>
              <a:rPr lang="zh-CN" altLang="en-US" dirty="0">
                <a:solidFill>
                  <a:srgbClr val="0070C0"/>
                </a:solidFill>
                <a:latin typeface="+mn-lt"/>
                <a:ea typeface="+mn-ea"/>
              </a:rPr>
              <a:t>只出错</a:t>
            </a:r>
            <a:endParaRPr lang="en-US" altLang="zh-CN" dirty="0">
              <a:solidFill>
                <a:srgbClr val="0070C0"/>
              </a:solidFill>
              <a:latin typeface="+mn-lt"/>
              <a:ea typeface="+mn-e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2.</a:t>
            </a:r>
            <a:r>
              <a:rPr lang="zh-CN" altLang="en-US" dirty="0">
                <a:solidFill>
                  <a:srgbClr val="0070C0"/>
                </a:solidFill>
                <a:latin typeface="+mn-lt"/>
                <a:ea typeface="+mn-ea"/>
              </a:rPr>
              <a:t>只丢包</a:t>
            </a:r>
            <a:endParaRPr lang="en-US" altLang="zh-CN" dirty="0">
              <a:solidFill>
                <a:srgbClr val="0070C0"/>
              </a:solidFill>
              <a:latin typeface="+mn-lt"/>
              <a:ea typeface="+mn-e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3.</a:t>
            </a:r>
            <a:r>
              <a:rPr lang="zh-CN" altLang="en-US" dirty="0">
                <a:solidFill>
                  <a:srgbClr val="0070C0"/>
                </a:solidFill>
                <a:latin typeface="+mn-lt"/>
                <a:ea typeface="+mn-ea"/>
              </a:rPr>
              <a:t>只延迟</a:t>
            </a:r>
            <a:endParaRPr lang="en-US" altLang="zh-CN" dirty="0">
              <a:solidFill>
                <a:srgbClr val="0070C0"/>
              </a:solidFill>
              <a:latin typeface="+mn-lt"/>
              <a:ea typeface="+mn-e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>
              <a:solidFill>
                <a:srgbClr val="0070C0"/>
              </a:solidFill>
              <a:latin typeface="+mn-lt"/>
              <a:ea typeface="+mn-e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>
              <a:solidFill>
                <a:srgbClr val="0070C0"/>
              </a:solidFill>
              <a:latin typeface="+mn-lt"/>
              <a:ea typeface="+mn-e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>
              <a:solidFill>
                <a:srgbClr val="0070C0"/>
              </a:solidFill>
              <a:latin typeface="+mn-lt"/>
              <a:ea typeface="+mn-e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>
              <a:solidFill>
                <a:srgbClr val="0070C0"/>
              </a:solidFill>
              <a:latin typeface="+mn-lt"/>
              <a:ea typeface="+mn-e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4.</a:t>
            </a:r>
            <a:r>
              <a:rPr lang="zh-CN" altLang="en-US" dirty="0">
                <a:solidFill>
                  <a:srgbClr val="0070C0"/>
                </a:solidFill>
                <a:latin typeface="+mn-lt"/>
                <a:ea typeface="+mn-ea"/>
              </a:rPr>
              <a:t>出错 </a:t>
            </a: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/ </a:t>
            </a:r>
            <a:r>
              <a:rPr lang="zh-CN" altLang="en-US" dirty="0">
                <a:solidFill>
                  <a:srgbClr val="0070C0"/>
                </a:solidFill>
                <a:latin typeface="+mn-lt"/>
                <a:ea typeface="+mn-ea"/>
              </a:rPr>
              <a:t>丢包</a:t>
            </a:r>
            <a:endParaRPr lang="en-US" altLang="zh-CN" dirty="0">
              <a:solidFill>
                <a:srgbClr val="0070C0"/>
              </a:solidFill>
              <a:latin typeface="+mn-lt"/>
              <a:ea typeface="+mn-e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5.</a:t>
            </a:r>
            <a:r>
              <a:rPr lang="zh-CN" altLang="en-US" dirty="0">
                <a:solidFill>
                  <a:srgbClr val="0070C0"/>
                </a:solidFill>
                <a:latin typeface="+mn-lt"/>
                <a:ea typeface="+mn-ea"/>
              </a:rPr>
              <a:t>出错 </a:t>
            </a: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/ </a:t>
            </a:r>
            <a:r>
              <a:rPr lang="zh-CN" altLang="en-US" dirty="0">
                <a:solidFill>
                  <a:srgbClr val="0070C0"/>
                </a:solidFill>
                <a:latin typeface="+mn-lt"/>
                <a:ea typeface="+mn-ea"/>
              </a:rPr>
              <a:t>延迟</a:t>
            </a:r>
            <a:endParaRPr lang="en-US" altLang="zh-CN" dirty="0">
              <a:solidFill>
                <a:srgbClr val="0070C0"/>
              </a:solidFill>
              <a:latin typeface="+mn-lt"/>
              <a:ea typeface="+mn-e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6.</a:t>
            </a:r>
            <a:r>
              <a:rPr lang="zh-CN" altLang="en-US" dirty="0">
                <a:solidFill>
                  <a:srgbClr val="0070C0"/>
                </a:solidFill>
                <a:latin typeface="+mn-lt"/>
                <a:ea typeface="+mn-ea"/>
              </a:rPr>
              <a:t>丢包 </a:t>
            </a: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/ </a:t>
            </a:r>
            <a:r>
              <a:rPr lang="zh-CN" altLang="en-US" dirty="0">
                <a:solidFill>
                  <a:srgbClr val="0070C0"/>
                </a:solidFill>
                <a:latin typeface="+mn-lt"/>
                <a:ea typeface="+mn-ea"/>
              </a:rPr>
              <a:t>延迟</a:t>
            </a:r>
            <a:endParaRPr lang="en-US" altLang="zh-CN" dirty="0">
              <a:solidFill>
                <a:srgbClr val="0070C0"/>
              </a:solidFill>
              <a:latin typeface="+mn-lt"/>
              <a:ea typeface="+mn-e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7.</a:t>
            </a:r>
            <a:r>
              <a:rPr lang="zh-CN" altLang="en-US" dirty="0">
                <a:solidFill>
                  <a:srgbClr val="0070C0"/>
                </a:solidFill>
                <a:latin typeface="+mn-lt"/>
                <a:ea typeface="+mn-ea"/>
              </a:rPr>
              <a:t>出错 </a:t>
            </a: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/ </a:t>
            </a:r>
            <a:r>
              <a:rPr lang="zh-CN" altLang="en-US" dirty="0">
                <a:solidFill>
                  <a:srgbClr val="0070C0"/>
                </a:solidFill>
                <a:latin typeface="+mn-lt"/>
                <a:ea typeface="+mn-ea"/>
              </a:rPr>
              <a:t>丢包 </a:t>
            </a:r>
            <a:r>
              <a:rPr lang="en-US" altLang="zh-CN" dirty="0">
                <a:solidFill>
                  <a:srgbClr val="0070C0"/>
                </a:solidFill>
                <a:latin typeface="+mn-lt"/>
                <a:ea typeface="+mn-ea"/>
              </a:rPr>
              <a:t>/ </a:t>
            </a:r>
            <a:r>
              <a:rPr lang="zh-CN" altLang="en-US" dirty="0">
                <a:solidFill>
                  <a:srgbClr val="0070C0"/>
                </a:solidFill>
                <a:latin typeface="+mn-lt"/>
                <a:ea typeface="+mn-ea"/>
              </a:rPr>
              <a:t>延迟</a:t>
            </a:r>
            <a:endParaRPr lang="en-US" altLang="zh-CN" dirty="0">
              <a:solidFill>
                <a:srgbClr val="0070C0"/>
              </a:solidFill>
              <a:latin typeface="+mn-lt"/>
              <a:ea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098E0B2-CD06-9047-8925-53BBC1A83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589304"/>
              </p:ext>
            </p:extLst>
          </p:nvPr>
        </p:nvGraphicFramePr>
        <p:xfrm>
          <a:off x="7796859" y="1772816"/>
          <a:ext cx="2866813" cy="3657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3813">
                  <a:extLst>
                    <a:ext uri="{9D8B030D-6E8A-4147-A177-3AD203B41FA5}">
                      <a16:colId xmlns:a16="http://schemas.microsoft.com/office/drawing/2014/main" val="3672121564"/>
                    </a:ext>
                  </a:extLst>
                </a:gridCol>
                <a:gridCol w="793000">
                  <a:extLst>
                    <a:ext uri="{9D8B030D-6E8A-4147-A177-3AD203B41FA5}">
                      <a16:colId xmlns:a16="http://schemas.microsoft.com/office/drawing/2014/main" val="6812976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zh-CN" altLang="zh-CN" sz="20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标准</a:t>
                      </a:r>
                      <a:endParaRPr lang="zh-CN" altLang="zh-CN" sz="2000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得分</a:t>
                      </a:r>
                      <a:endParaRPr lang="zh-CN" sz="2000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7893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RDT 2.0</a:t>
                      </a:r>
                      <a:endParaRPr lang="zh-CN" sz="2000" b="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sz="200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6298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RDT 2.2</a:t>
                      </a:r>
                      <a:endParaRPr lang="zh-CN" sz="2000" b="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CN" sz="200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3181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RDT 3.0</a:t>
                      </a:r>
                      <a:endParaRPr lang="zh-CN" sz="2000" b="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2000" kern="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  <a:endParaRPr lang="zh-CN" sz="2000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7489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GB/SR/TCP</a:t>
                      </a:r>
                      <a:endParaRPr lang="zh-CN" sz="2000" b="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zh-CN" sz="2000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8928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 Tahoe</a:t>
                      </a:r>
                      <a:endParaRPr lang="zh-CN" sz="2000" b="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zh-CN" sz="200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236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TCP Reno</a:t>
                      </a:r>
                      <a:endParaRPr lang="zh-CN" sz="2000" b="0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zh-CN" sz="2000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4296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未完成关键困难</a:t>
                      </a:r>
                      <a:endParaRPr lang="zh-CN" sz="2000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sz="2000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6581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迭代开发</a:t>
                      </a:r>
                      <a:endParaRPr lang="zh-CN" sz="200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sz="200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2966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已解决主要问题</a:t>
                      </a:r>
                      <a:endParaRPr lang="zh-CN" sz="200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sz="200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6717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实验系统建议</a:t>
                      </a:r>
                      <a:endParaRPr lang="zh-CN" sz="200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sz="200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2053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合计</a:t>
                      </a:r>
                      <a:endParaRPr lang="zh-CN" sz="2000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869389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4" y="115888"/>
            <a:ext cx="7793037" cy="766762"/>
          </a:xfrm>
        </p:spPr>
        <p:txBody>
          <a:bodyPr>
            <a:normAutofit/>
          </a:bodyPr>
          <a:lstStyle/>
          <a:p>
            <a:pPr algn="ctr"/>
            <a:r>
              <a:rPr kumimoji="0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  <a:ea typeface="方正姚体" panose="02010601030101010101" pitchFamily="2" charset="-122"/>
              </a:rPr>
              <a:t>可靠数据传输：信道模型</a:t>
            </a:r>
          </a:p>
        </p:txBody>
      </p:sp>
      <p:pic>
        <p:nvPicPr>
          <p:cNvPr id="10242" name="Picture 3" descr="rdt_part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2365376"/>
            <a:ext cx="5969000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1919288" y="2781300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0"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发送方</a:t>
            </a:r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9191626" y="2925763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0"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接收方</a:t>
            </a:r>
          </a:p>
        </p:txBody>
      </p:sp>
      <p:sp>
        <p:nvSpPr>
          <p:cNvPr id="10245" name="Text Box 7"/>
          <p:cNvSpPr txBox="1">
            <a:spLocks noChangeArrowheads="1"/>
          </p:cNvSpPr>
          <p:nvPr/>
        </p:nvSpPr>
        <p:spPr bwMode="auto">
          <a:xfrm>
            <a:off x="1847850" y="1196975"/>
            <a:ext cx="410368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800" b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rdt_send():</a:t>
            </a:r>
            <a:r>
              <a:rPr kumimoji="0" lang="en-US" altLang="zh-CN" sz="1800" b="1"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kumimoji="0" lang="zh-CN" altLang="en-US" sz="1800" b="1">
                <a:latin typeface="Comic Sans MS" panose="030F0702030302020204" pitchFamily="66" charset="0"/>
                <a:ea typeface="黑体" panose="02010609060101010101" pitchFamily="49" charset="-122"/>
              </a:rPr>
              <a:t>由上层进行调用 </a:t>
            </a:r>
            <a:r>
              <a:rPr kumimoji="0" lang="en-US" altLang="zh-CN" sz="1800" b="1">
                <a:latin typeface="Comic Sans MS" panose="030F0702030302020204" pitchFamily="66" charset="0"/>
                <a:ea typeface="黑体" panose="02010609060101010101" pitchFamily="49" charset="-122"/>
              </a:rPr>
              <a:t>(</a:t>
            </a:r>
            <a:r>
              <a:rPr kumimoji="0" lang="zh-CN" altLang="en-US" sz="1800" b="1">
                <a:latin typeface="Comic Sans MS" panose="030F0702030302020204" pitchFamily="66" charset="0"/>
                <a:ea typeface="黑体" panose="02010609060101010101" pitchFamily="49" charset="-122"/>
              </a:rPr>
              <a:t>如应用进程</a:t>
            </a:r>
            <a:r>
              <a:rPr kumimoji="0" lang="en-US" altLang="zh-CN" sz="1800" b="1">
                <a:latin typeface="Comic Sans MS" panose="030F0702030302020204" pitchFamily="66" charset="0"/>
                <a:ea typeface="黑体" panose="02010609060101010101" pitchFamily="49" charset="-122"/>
              </a:rPr>
              <a:t>). </a:t>
            </a:r>
            <a:r>
              <a:rPr kumimoji="0" lang="zh-CN" altLang="en-US" sz="1800" b="1">
                <a:latin typeface="Comic Sans MS" panose="030F0702030302020204" pitchFamily="66" charset="0"/>
                <a:ea typeface="黑体" panose="02010609060101010101" pitchFamily="49" charset="-122"/>
              </a:rPr>
              <a:t>将数据传入发送方并由其传给接收方的上层</a:t>
            </a:r>
            <a:endParaRPr kumimoji="0" lang="zh-CN" altLang="en-US" b="1"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grpSp>
        <p:nvGrpSpPr>
          <p:cNvPr id="10246" name="Group 8"/>
          <p:cNvGrpSpPr>
            <a:grpSpLocks/>
          </p:cNvGrpSpPr>
          <p:nvPr/>
        </p:nvGrpSpPr>
        <p:grpSpPr bwMode="auto">
          <a:xfrm>
            <a:off x="1847851" y="1212851"/>
            <a:ext cx="4048125" cy="1400175"/>
            <a:chOff x="240" y="942"/>
            <a:chExt cx="2370" cy="882"/>
          </a:xfrm>
        </p:grpSpPr>
        <p:sp>
          <p:nvSpPr>
            <p:cNvPr id="10262" name="Line 9"/>
            <p:cNvSpPr>
              <a:spLocks noChangeShapeType="1"/>
            </p:cNvSpPr>
            <p:nvPr/>
          </p:nvSpPr>
          <p:spPr bwMode="auto">
            <a:xfrm>
              <a:off x="942" y="1500"/>
              <a:ext cx="174" cy="32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3" name="Rectangle 10"/>
            <p:cNvSpPr>
              <a:spLocks noChangeArrowheads="1"/>
            </p:cNvSpPr>
            <p:nvPr/>
          </p:nvSpPr>
          <p:spPr bwMode="auto">
            <a:xfrm>
              <a:off x="240" y="942"/>
              <a:ext cx="2370" cy="55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1800226" y="4094164"/>
            <a:ext cx="3762375" cy="1862137"/>
            <a:chOff x="174" y="2760"/>
            <a:chExt cx="2370" cy="1173"/>
          </a:xfrm>
        </p:grpSpPr>
        <p:sp>
          <p:nvSpPr>
            <p:cNvPr id="10258" name="Text Box 12"/>
            <p:cNvSpPr txBox="1">
              <a:spLocks noChangeArrowheads="1"/>
            </p:cNvSpPr>
            <p:nvPr/>
          </p:nvSpPr>
          <p:spPr bwMode="auto">
            <a:xfrm>
              <a:off x="233" y="3356"/>
              <a:ext cx="2144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0" lang="en-US" altLang="zh-CN" sz="1800" b="1">
                  <a:solidFill>
                    <a:srgbClr val="FF0000"/>
                  </a:solidFill>
                  <a:latin typeface="Comic Sans MS" panose="030F0702030302020204" pitchFamily="66" charset="0"/>
                  <a:ea typeface="黑体" panose="02010609060101010101" pitchFamily="49" charset="-122"/>
                </a:rPr>
                <a:t>udt_send():</a:t>
              </a:r>
              <a:r>
                <a:rPr kumimoji="0" lang="en-US" altLang="zh-CN" sz="1800" b="1">
                  <a:latin typeface="Comic Sans MS" panose="030F0702030302020204" pitchFamily="66" charset="0"/>
                  <a:ea typeface="黑体" panose="02010609060101010101" pitchFamily="49" charset="-122"/>
                </a:rPr>
                <a:t> </a:t>
              </a:r>
              <a:r>
                <a:rPr kumimoji="0" lang="zh-CN" altLang="en-US" sz="1800" b="1">
                  <a:latin typeface="Comic Sans MS" panose="030F0702030302020204" pitchFamily="66" charset="0"/>
                  <a:ea typeface="黑体" panose="02010609060101010101" pitchFamily="49" charset="-122"/>
                </a:rPr>
                <a:t>由</a:t>
              </a:r>
              <a:r>
                <a:rPr kumimoji="0" lang="en-US" altLang="zh-CN" sz="1800" b="1">
                  <a:latin typeface="Comic Sans MS" panose="030F0702030302020204" pitchFamily="66" charset="0"/>
                  <a:ea typeface="黑体" panose="02010609060101010101" pitchFamily="49" charset="-122"/>
                </a:rPr>
                <a:t>rdt</a:t>
              </a:r>
              <a:r>
                <a:rPr kumimoji="0" lang="zh-CN" altLang="en-US" sz="1800" b="1">
                  <a:latin typeface="Comic Sans MS" panose="030F0702030302020204" pitchFamily="66" charset="0"/>
                  <a:ea typeface="黑体" panose="02010609060101010101" pitchFamily="49" charset="-122"/>
                </a:rPr>
                <a:t>调用</a:t>
              </a:r>
              <a:r>
                <a:rPr kumimoji="0" lang="en-US" altLang="zh-CN" sz="1800" b="1">
                  <a:latin typeface="Comic Sans MS" panose="030F0702030302020204" pitchFamily="66" charset="0"/>
                  <a:ea typeface="黑体" panose="02010609060101010101" pitchFamily="49" charset="-122"/>
                </a:rPr>
                <a:t>,</a:t>
              </a:r>
            </a:p>
            <a:p>
              <a:pPr eaLnBrk="0" hangingPunct="0"/>
              <a:r>
                <a:rPr kumimoji="0" lang="zh-CN" altLang="en-US" sz="1800" b="1">
                  <a:latin typeface="Comic Sans MS" panose="030F0702030302020204" pitchFamily="66" charset="0"/>
                  <a:ea typeface="黑体" panose="02010609060101010101" pitchFamily="49" charset="-122"/>
                </a:rPr>
                <a:t>将分组通过不可靠的信道传到接收方</a:t>
              </a:r>
              <a:endParaRPr kumimoji="0" lang="zh-CN" altLang="en-US" b="1">
                <a:latin typeface="Comic Sans MS" panose="030F0702030302020204" pitchFamily="66" charset="0"/>
                <a:ea typeface="黑体" panose="02010609060101010101" pitchFamily="49" charset="-122"/>
              </a:endParaRPr>
            </a:p>
          </p:txBody>
        </p:sp>
        <p:grpSp>
          <p:nvGrpSpPr>
            <p:cNvPr id="10259" name="Group 13"/>
            <p:cNvGrpSpPr>
              <a:grpSpLocks/>
            </p:cNvGrpSpPr>
            <p:nvPr/>
          </p:nvGrpSpPr>
          <p:grpSpPr bwMode="auto">
            <a:xfrm>
              <a:off x="174" y="2760"/>
              <a:ext cx="2370" cy="1170"/>
              <a:chOff x="174" y="2760"/>
              <a:chExt cx="2370" cy="1170"/>
            </a:xfrm>
          </p:grpSpPr>
          <p:sp>
            <p:nvSpPr>
              <p:cNvPr id="10260" name="Line 14"/>
              <p:cNvSpPr>
                <a:spLocks noChangeShapeType="1"/>
              </p:cNvSpPr>
              <p:nvPr/>
            </p:nvSpPr>
            <p:spPr bwMode="auto">
              <a:xfrm flipV="1">
                <a:off x="882" y="2760"/>
                <a:ext cx="228" cy="60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1" name="Rectangle 15"/>
              <p:cNvSpPr>
                <a:spLocks noChangeArrowheads="1"/>
              </p:cNvSpPr>
              <p:nvPr/>
            </p:nvSpPr>
            <p:spPr bwMode="auto">
              <a:xfrm>
                <a:off x="174" y="3372"/>
                <a:ext cx="2370" cy="55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</p:grp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6446839" y="4075113"/>
            <a:ext cx="3965575" cy="1803400"/>
            <a:chOff x="3101" y="2748"/>
            <a:chExt cx="2498" cy="1038"/>
          </a:xfrm>
        </p:grpSpPr>
        <p:sp>
          <p:nvSpPr>
            <p:cNvPr id="10254" name="Text Box 17"/>
            <p:cNvSpPr txBox="1">
              <a:spLocks noChangeArrowheads="1"/>
            </p:cNvSpPr>
            <p:nvPr/>
          </p:nvSpPr>
          <p:spPr bwMode="auto">
            <a:xfrm>
              <a:off x="3101" y="3369"/>
              <a:ext cx="2498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0" lang="en-US" altLang="zh-CN" sz="1800" b="1">
                  <a:solidFill>
                    <a:srgbClr val="FF0000"/>
                  </a:solidFill>
                  <a:latin typeface="Comic Sans MS" panose="030F0702030302020204" pitchFamily="66" charset="0"/>
                  <a:ea typeface="黑体" panose="02010609060101010101" pitchFamily="49" charset="-122"/>
                </a:rPr>
                <a:t>rdt_rcv():</a:t>
              </a:r>
              <a:r>
                <a:rPr kumimoji="0" lang="en-US" altLang="zh-CN" sz="1800" b="1">
                  <a:latin typeface="Comic Sans MS" panose="030F0702030302020204" pitchFamily="66" charset="0"/>
                  <a:ea typeface="黑体" panose="02010609060101010101" pitchFamily="49" charset="-122"/>
                </a:rPr>
                <a:t> </a:t>
              </a:r>
              <a:r>
                <a:rPr kumimoji="0" lang="zh-CN" altLang="en-US" sz="1800" b="1">
                  <a:latin typeface="Comic Sans MS" panose="030F0702030302020204" pitchFamily="66" charset="0"/>
                  <a:ea typeface="黑体" panose="02010609060101010101" pitchFamily="49" charset="-122"/>
                </a:rPr>
                <a:t>当分组到达接收方时调用</a:t>
              </a:r>
              <a:endParaRPr kumimoji="0" lang="zh-CN" altLang="en-US" b="1">
                <a:latin typeface="Comic Sans MS" panose="030F0702030302020204" pitchFamily="66" charset="0"/>
                <a:ea typeface="黑体" panose="02010609060101010101" pitchFamily="49" charset="-122"/>
              </a:endParaRPr>
            </a:p>
          </p:txBody>
        </p:sp>
        <p:grpSp>
          <p:nvGrpSpPr>
            <p:cNvPr id="10255" name="Group 18"/>
            <p:cNvGrpSpPr>
              <a:grpSpLocks/>
            </p:cNvGrpSpPr>
            <p:nvPr/>
          </p:nvGrpSpPr>
          <p:grpSpPr bwMode="auto">
            <a:xfrm>
              <a:off x="3162" y="2748"/>
              <a:ext cx="2370" cy="1038"/>
              <a:chOff x="3162" y="2748"/>
              <a:chExt cx="2370" cy="1038"/>
            </a:xfrm>
          </p:grpSpPr>
          <p:sp>
            <p:nvSpPr>
              <p:cNvPr id="10256" name="Line 19"/>
              <p:cNvSpPr>
                <a:spLocks noChangeShapeType="1"/>
              </p:cNvSpPr>
              <p:nvPr/>
            </p:nvSpPr>
            <p:spPr bwMode="auto">
              <a:xfrm flipH="1" flipV="1">
                <a:off x="4596" y="2748"/>
                <a:ext cx="300" cy="63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57" name="Rectangle 20"/>
              <p:cNvSpPr>
                <a:spLocks noChangeArrowheads="1"/>
              </p:cNvSpPr>
              <p:nvPr/>
            </p:nvSpPr>
            <p:spPr bwMode="auto">
              <a:xfrm>
                <a:off x="3162" y="3390"/>
                <a:ext cx="2370" cy="39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</p:grpSp>
      </p:grpSp>
      <p:grpSp>
        <p:nvGrpSpPr>
          <p:cNvPr id="8" name="Group 21"/>
          <p:cNvGrpSpPr>
            <a:grpSpLocks/>
          </p:cNvGrpSpPr>
          <p:nvPr/>
        </p:nvGrpSpPr>
        <p:grpSpPr bwMode="auto">
          <a:xfrm>
            <a:off x="6456364" y="1196976"/>
            <a:ext cx="3527425" cy="1349375"/>
            <a:chOff x="3138" y="926"/>
            <a:chExt cx="2370" cy="850"/>
          </a:xfrm>
        </p:grpSpPr>
        <p:sp>
          <p:nvSpPr>
            <p:cNvPr id="10250" name="Text Box 22"/>
            <p:cNvSpPr txBox="1">
              <a:spLocks noChangeArrowheads="1"/>
            </p:cNvSpPr>
            <p:nvPr/>
          </p:nvSpPr>
          <p:spPr bwMode="auto">
            <a:xfrm>
              <a:off x="3215" y="926"/>
              <a:ext cx="207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0" lang="en-US" altLang="zh-CN" sz="1800" b="1">
                  <a:solidFill>
                    <a:srgbClr val="FF0000"/>
                  </a:solidFill>
                  <a:latin typeface="Comic Sans MS" panose="030F0702030302020204" pitchFamily="66" charset="0"/>
                  <a:ea typeface="黑体" panose="02010609060101010101" pitchFamily="49" charset="-122"/>
                </a:rPr>
                <a:t>deliver_data():</a:t>
              </a:r>
              <a:r>
                <a:rPr kumimoji="0" lang="en-US" altLang="zh-CN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kumimoji="0" lang="zh-CN" altLang="en-US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由 </a:t>
              </a:r>
              <a:r>
                <a:rPr kumimoji="0" lang="en-US" altLang="zh-CN" sz="1800" b="1">
                  <a:latin typeface="Comic Sans MS" panose="030F0702030302020204" pitchFamily="66" charset="0"/>
                  <a:ea typeface="黑体" panose="02010609060101010101" pitchFamily="49" charset="-122"/>
                </a:rPr>
                <a:t>rdt</a:t>
              </a:r>
              <a:r>
                <a:rPr kumimoji="0" lang="zh-CN" altLang="en-US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调用将数据递交给上层</a:t>
              </a:r>
              <a:endParaRPr kumimoji="0"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0251" name="Group 23"/>
            <p:cNvGrpSpPr>
              <a:grpSpLocks/>
            </p:cNvGrpSpPr>
            <p:nvPr/>
          </p:nvGrpSpPr>
          <p:grpSpPr bwMode="auto">
            <a:xfrm>
              <a:off x="3138" y="942"/>
              <a:ext cx="2370" cy="834"/>
              <a:chOff x="3138" y="942"/>
              <a:chExt cx="2370" cy="834"/>
            </a:xfrm>
          </p:grpSpPr>
          <p:sp>
            <p:nvSpPr>
              <p:cNvPr id="10252" name="Line 24"/>
              <p:cNvSpPr>
                <a:spLocks noChangeShapeType="1"/>
              </p:cNvSpPr>
              <p:nvPr/>
            </p:nvSpPr>
            <p:spPr bwMode="auto">
              <a:xfrm flipH="1">
                <a:off x="4560" y="1344"/>
                <a:ext cx="150" cy="43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53" name="Rectangle 25"/>
              <p:cNvSpPr>
                <a:spLocks noChangeArrowheads="1"/>
              </p:cNvSpPr>
              <p:nvPr/>
            </p:nvSpPr>
            <p:spPr bwMode="auto">
              <a:xfrm>
                <a:off x="3138" y="942"/>
                <a:ext cx="2370" cy="39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88913"/>
            <a:ext cx="8229600" cy="558800"/>
          </a:xfrm>
        </p:spPr>
        <p:txBody>
          <a:bodyPr/>
          <a:lstStyle/>
          <a:p>
            <a:r>
              <a:rPr kumimoji="0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  <a:ea typeface="方正姚体" panose="02010601030101010101" pitchFamily="2" charset="-122"/>
              </a:rPr>
              <a:t>系统类库</a:t>
            </a:r>
            <a:r>
              <a:rPr kumimoji="0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  <a:ea typeface="方正姚体" panose="02010601030101010101" pitchFamily="2" charset="-122"/>
              </a:rPr>
              <a:t>UML</a:t>
            </a:r>
            <a:r>
              <a:rPr kumimoji="0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  <a:ea typeface="方正姚体" panose="02010601030101010101" pitchFamily="2" charset="-122"/>
              </a:rPr>
              <a:t>图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1125538"/>
            <a:ext cx="9180513" cy="564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0" y="125413"/>
            <a:ext cx="252095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圆角矩形 3"/>
          <p:cNvSpPr/>
          <p:nvPr/>
        </p:nvSpPr>
        <p:spPr>
          <a:xfrm>
            <a:off x="7608888" y="1844676"/>
            <a:ext cx="2519362" cy="57626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8616950" y="3789364"/>
            <a:ext cx="1943100" cy="5032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7788275" y="2420939"/>
            <a:ext cx="179388" cy="248443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7" idx="2"/>
          </p:cNvCxnSpPr>
          <p:nvPr/>
        </p:nvCxnSpPr>
        <p:spPr>
          <a:xfrm flipH="1">
            <a:off x="8543926" y="4292601"/>
            <a:ext cx="1044575" cy="6127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2" name="TextBox 12"/>
          <p:cNvSpPr txBox="1">
            <a:spLocks noChangeArrowheads="1"/>
          </p:cNvSpPr>
          <p:nvPr/>
        </p:nvSpPr>
        <p:spPr bwMode="auto">
          <a:xfrm>
            <a:off x="7391401" y="4905376"/>
            <a:ext cx="21256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b="1">
                <a:solidFill>
                  <a:srgbClr val="FF0000"/>
                </a:solidFill>
              </a:rPr>
              <a:t>实验内容需要完成的部分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7475538" y="4905376"/>
            <a:ext cx="2005012" cy="83026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88913"/>
            <a:ext cx="8229600" cy="703262"/>
          </a:xfrm>
        </p:spPr>
        <p:txBody>
          <a:bodyPr/>
          <a:lstStyle/>
          <a:p>
            <a:r>
              <a:rPr kumimoji="0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  <a:ea typeface="方正姚体" panose="02010601030101010101" pitchFamily="2" charset="-122"/>
              </a:rPr>
              <a:t>计时器的使用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407368" y="1052514"/>
            <a:ext cx="11449272" cy="5616573"/>
          </a:xfrm>
        </p:spPr>
        <p:txBody>
          <a:bodyPr/>
          <a:lstStyle/>
          <a:p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多线程：一条线程指的是进程中一个单一顺序的控制流，一个进程中可以并发多个线程，每条线程并行执行不同的任务。</a:t>
            </a:r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超时重传：计时器</a:t>
            </a:r>
            <a:r>
              <a:rPr kumimoji="0" lang="en-US" altLang="zh-CN" sz="2000" dirty="0" err="1">
                <a:latin typeface="Georgia" panose="02040502050405020303" pitchFamily="18" charset="0"/>
                <a:ea typeface="宋体" panose="02010600030101010101" pitchFamily="2" charset="-122"/>
              </a:rPr>
              <a:t>UDT_Timer</a:t>
            </a:r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控制一个独立于发送方主线程的重传任务线程</a:t>
            </a:r>
            <a:r>
              <a:rPr kumimoji="0" lang="en-US" altLang="zh-CN" sz="2000" dirty="0" err="1">
                <a:latin typeface="Georgia" panose="02040502050405020303" pitchFamily="18" charset="0"/>
                <a:ea typeface="宋体" panose="02010600030101010101" pitchFamily="2" charset="-122"/>
              </a:rPr>
              <a:t>UDT_RetransTask</a:t>
            </a:r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，以固定周期（如：</a:t>
            </a:r>
            <a:r>
              <a:rPr kumimoji="0"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3</a:t>
            </a:r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秒）执行重传任务；累积确认也用该线程实现。</a:t>
            </a:r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计时器及重传任务的创建与调用：</a:t>
            </a:r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该线程启动会会每隔</a:t>
            </a:r>
            <a:r>
              <a:rPr kumimoji="0"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3s</a:t>
            </a:r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发送一次</a:t>
            </a:r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endParaRPr kumimoji="0"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r>
              <a:rPr kumimoji="0" lang="zh-CN" altLang="en-US" sz="2000" dirty="0">
                <a:latin typeface="Georgia" panose="02040502050405020303" pitchFamily="18" charset="0"/>
                <a:ea typeface="宋体" panose="02010600030101010101" pitchFamily="2" charset="-122"/>
              </a:rPr>
              <a:t>已经成功传送包的计时器必须手动结束</a:t>
            </a:r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4" y="2708275"/>
            <a:ext cx="6162675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图片 2" descr="屏幕快照 2015-12-22 下午6.50.09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4581526"/>
            <a:ext cx="6767512" cy="198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F11CCF0-D672-4814-8689-12F3FAD23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605" y="3717925"/>
            <a:ext cx="3181350" cy="4381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9288" y="115889"/>
            <a:ext cx="8229600" cy="701675"/>
          </a:xfrm>
        </p:spPr>
        <p:txBody>
          <a:bodyPr/>
          <a:lstStyle/>
          <a:p>
            <a:r>
              <a:rPr kumimoji="0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  <a:ea typeface="方正姚体" panose="02010601030101010101" pitchFamily="2" charset="-122"/>
              </a:rPr>
              <a:t>成绩评定</a:t>
            </a:r>
          </a:p>
        </p:txBody>
      </p:sp>
      <p:sp>
        <p:nvSpPr>
          <p:cNvPr id="24578" name="内容占位符 2"/>
          <p:cNvSpPr>
            <a:spLocks noGrp="1"/>
          </p:cNvSpPr>
          <p:nvPr>
            <p:ph idx="1"/>
          </p:nvPr>
        </p:nvSpPr>
        <p:spPr>
          <a:xfrm>
            <a:off x="1981200" y="1196976"/>
            <a:ext cx="8229600" cy="576263"/>
          </a:xfrm>
        </p:spPr>
        <p:txBody>
          <a:bodyPr/>
          <a:lstStyle/>
          <a:p>
            <a:r>
              <a:rPr kumimoji="0" lang="zh-CN" altLang="en-US" sz="2400">
                <a:latin typeface="Georgia" panose="02040502050405020303" pitchFamily="18" charset="0"/>
                <a:ea typeface="宋体" panose="02010600030101010101" pitchFamily="2" charset="-122"/>
              </a:rPr>
              <a:t>实验报告＋</a:t>
            </a:r>
            <a:r>
              <a:rPr kumimoji="0" lang="en-US" altLang="zh-CN" sz="2400">
                <a:latin typeface="Georgia" panose="02040502050405020303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400">
                <a:latin typeface="Georgia" panose="02040502050405020303" pitchFamily="18" charset="0"/>
                <a:ea typeface="宋体" panose="02010600030101010101" pitchFamily="2" charset="-122"/>
              </a:rPr>
              <a:t>代码 </a:t>
            </a:r>
            <a:r>
              <a:rPr kumimoji="0" lang="en-US" altLang="zh-CN" sz="2400">
                <a:latin typeface="Georgia" panose="02040502050405020303" pitchFamily="18" charset="0"/>
                <a:ea typeface="宋体" panose="02010600030101010101" pitchFamily="2" charset="-122"/>
              </a:rPr>
              <a:t>+ Log</a:t>
            </a:r>
            <a:r>
              <a:rPr kumimoji="0" lang="zh-CN" altLang="en-US" sz="2400">
                <a:latin typeface="Georgia" panose="02040502050405020303" pitchFamily="18" charset="0"/>
                <a:ea typeface="宋体" panose="02010600030101010101" pitchFamily="2" charset="-122"/>
              </a:rPr>
              <a:t>文件 </a:t>
            </a:r>
            <a:r>
              <a:rPr kumimoji="0" lang="en-US" altLang="zh-CN" sz="2400">
                <a:latin typeface="Georgia" panose="02040502050405020303" pitchFamily="18" charset="0"/>
                <a:ea typeface="宋体" panose="02010600030101010101" pitchFamily="2" charset="-122"/>
              </a:rPr>
              <a:t>+ recvData</a:t>
            </a:r>
            <a:r>
              <a:rPr kumimoji="0" lang="zh-CN" altLang="en-US" sz="2400">
                <a:latin typeface="Georgia" panose="02040502050405020303" pitchFamily="18" charset="0"/>
                <a:ea typeface="宋体" panose="02010600030101010101" pitchFamily="2" charset="-122"/>
              </a:rPr>
              <a:t>文件</a:t>
            </a: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450" y="4049714"/>
            <a:ext cx="462915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063" y="2349501"/>
            <a:ext cx="46863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121449" y="3473451"/>
            <a:ext cx="46166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1800" b="1"/>
              <a:t>……</a:t>
            </a:r>
            <a:endParaRPr kumimoji="0" lang="zh-CN" altLang="en-US" sz="1800" b="1"/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714" y="1700213"/>
            <a:ext cx="1368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 4"/>
          <p:cNvSpPr/>
          <p:nvPr/>
        </p:nvSpPr>
        <p:spPr>
          <a:xfrm>
            <a:off x="4352926" y="4437063"/>
            <a:ext cx="2606675" cy="12239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2560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889" y="1735138"/>
            <a:ext cx="1563687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752061" y="2420938"/>
            <a:ext cx="46166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1800" b="1"/>
              <a:t>……</a:t>
            </a:r>
            <a:endParaRPr kumimoji="0" lang="zh-CN" altLang="en-US" sz="1800" b="1"/>
          </a:p>
        </p:txBody>
      </p:sp>
      <p:pic>
        <p:nvPicPr>
          <p:cNvPr id="25611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1438" y="2997201"/>
            <a:ext cx="1428750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7752061" y="5805488"/>
            <a:ext cx="46166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1800" b="1"/>
              <a:t>……</a:t>
            </a:r>
            <a:endParaRPr kumimoji="0" lang="zh-CN" altLang="en-US" sz="1800" b="1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121449" y="6092826"/>
            <a:ext cx="46166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1800" b="1"/>
              <a:t>……</a:t>
            </a:r>
            <a:endParaRPr kumimoji="0" lang="zh-CN" altLang="en-US" sz="18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4" grpId="0"/>
      <p:bldP spid="17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640014" y="247650"/>
            <a:ext cx="6600825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ctr">
            <a:norm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kumimoji="0" lang="zh-CN" altLang="en-US" sz="39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挑战：拥塞控制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79376" y="981076"/>
            <a:ext cx="11017224" cy="525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代码要求：</a:t>
            </a:r>
            <a:endParaRPr kumimoji="0" lang="en-US" altLang="zh-CN" sz="3200" dirty="0">
              <a:latin typeface="黑体" panose="02010609060101010101" pitchFamily="49" charset="-122"/>
              <a:ea typeface="Heiti SC Light" pitchFamily="1" charset="-122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kumimoji="0"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Songti SC Regular" pitchFamily="1" charset="-122"/>
                <a:cs typeface="Arial" panose="020B0604020202020204" pitchFamily="34" charset="0"/>
              </a:rPr>
              <a:t>Tahoe</a:t>
            </a:r>
            <a:r>
              <a:rPr kumimoji="0"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版本：慢开始、加法增大、拥塞避免、乘法减小，</a:t>
            </a:r>
            <a:r>
              <a:rPr kumimoji="0"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1</a:t>
            </a:r>
            <a:r>
              <a:rPr kumimoji="0"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个计时器</a:t>
            </a:r>
            <a:endParaRPr kumimoji="0" lang="en-US" altLang="zh-CN" dirty="0">
              <a:solidFill>
                <a:schemeClr val="tx2"/>
              </a:solidFill>
              <a:latin typeface="Arial" panose="020B0604020202020204" pitchFamily="34" charset="0"/>
              <a:ea typeface="Songti SC Regular" pitchFamily="1" charset="-122"/>
              <a:cs typeface="Arial" panose="020B0604020202020204" pitchFamily="34" charset="0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kumimoji="0"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Songti SC Regular" pitchFamily="1" charset="-122"/>
                <a:cs typeface="Arial" panose="020B0604020202020204" pitchFamily="34" charset="0"/>
              </a:rPr>
              <a:t>TCP Reno</a:t>
            </a:r>
            <a:r>
              <a:rPr kumimoji="0"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版本：快重传、快恢复，</a:t>
            </a:r>
            <a:r>
              <a:rPr kumimoji="0"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个计时器</a:t>
            </a:r>
            <a:endParaRPr kumimoji="0" lang="en-US" altLang="zh-CN" dirty="0">
              <a:solidFill>
                <a:schemeClr val="tx2"/>
              </a:solidFill>
              <a:latin typeface="Arial" panose="020B0604020202020204" pitchFamily="34" charset="0"/>
              <a:ea typeface="Songti SC Regular" pitchFamily="1" charset="-122"/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kumimoji="0" lang="en-US" altLang="zh-CN" sz="3200" dirty="0">
              <a:latin typeface="Arial" panose="020B0604020202020204" pitchFamily="34" charset="0"/>
              <a:ea typeface="Heiti SC Light" pitchFamily="1" charset="-122"/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报告要求</a:t>
            </a:r>
            <a:endParaRPr kumimoji="0" lang="en-US" altLang="zh-CN" sz="3200" dirty="0">
              <a:latin typeface="黑体" panose="02010609060101010101" pitchFamily="49" charset="-122"/>
              <a:ea typeface="Heiti SC Light" pitchFamily="1" charset="-122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kumimoji="0"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必须在报告中根据代码和运行的</a:t>
            </a:r>
            <a:r>
              <a:rPr kumimoji="0" lang="en-US" altLang="zh-CN" dirty="0">
                <a:solidFill>
                  <a:schemeClr val="tx2"/>
                </a:solidFill>
                <a:latin typeface="黑体" panose="02010609060101010101" pitchFamily="49" charset="-122"/>
                <a:ea typeface="Songti SC Regular" pitchFamily="1" charset="-122"/>
              </a:rPr>
              <a:t>Trace</a:t>
            </a:r>
            <a:r>
              <a:rPr kumimoji="0"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文件说明“慢开始、加法增大、拥塞避免、乘法减小”如何实现及其在</a:t>
            </a:r>
            <a:r>
              <a:rPr kumimoji="0" lang="en-US" altLang="zh-CN" dirty="0">
                <a:solidFill>
                  <a:schemeClr val="tx2"/>
                </a:solidFill>
                <a:latin typeface="黑体" panose="02010609060101010101" pitchFamily="49" charset="-122"/>
                <a:ea typeface="Songti SC Regular" pitchFamily="1" charset="-122"/>
              </a:rPr>
              <a:t>Trace</a:t>
            </a:r>
            <a:r>
              <a:rPr kumimoji="0"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文件中的反映</a:t>
            </a:r>
            <a:endParaRPr kumimoji="0" lang="en-US" altLang="zh-CN" dirty="0">
              <a:solidFill>
                <a:schemeClr val="tx2"/>
              </a:solidFill>
              <a:latin typeface="黑体" panose="02010609060101010101" pitchFamily="49" charset="-122"/>
              <a:ea typeface="Songti SC Regular" pitchFamily="1" charset="-122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kumimoji="0"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640014" y="247650"/>
            <a:ext cx="6600825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宋体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宋体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宋体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宋体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宋体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kumimoji="0" lang="zh-CN" altLang="en-US" sz="4000" dirty="0">
                <a:latin typeface="Arial" charset="0"/>
                <a:ea typeface="黑体" charset="0"/>
              </a:rPr>
              <a:t>实验环境配置</a:t>
            </a:r>
          </a:p>
        </p:txBody>
      </p:sp>
      <p:sp>
        <p:nvSpPr>
          <p:cNvPr id="3" name="矩形 1"/>
          <p:cNvSpPr>
            <a:spLocks noChangeArrowheads="1"/>
          </p:cNvSpPr>
          <p:nvPr/>
        </p:nvSpPr>
        <p:spPr bwMode="auto">
          <a:xfrm>
            <a:off x="911424" y="1124744"/>
            <a:ext cx="7777162" cy="922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安装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jdk-6-6u45-windows-i586 .exe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课程资源库里有</a:t>
            </a:r>
            <a:endParaRPr kumimoji="0" lang="en-US" altLang="zh-CN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注意必须使用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32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位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jdk6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，因为有部分类和后续的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J2SE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版本不兼容</a:t>
            </a:r>
            <a:endParaRPr kumimoji="0" lang="en-US" altLang="zh-CN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配置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windows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环境变量</a:t>
            </a:r>
            <a:endParaRPr kumimoji="0" lang="en-US" altLang="zh-CN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参考以下的网页照做即可</a:t>
            </a:r>
            <a:endParaRPr kumimoji="0" lang="en-US" altLang="zh-CN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https://jingyan.baidu.com/article/925f8cb836b26ac0dde0569e.html</a:t>
            </a:r>
          </a:p>
        </p:txBody>
      </p:sp>
    </p:spTree>
    <p:extLst>
      <p:ext uri="{BB962C8B-B14F-4D97-AF65-F5344CB8AC3E}">
        <p14:creationId xmlns:p14="http://schemas.microsoft.com/office/powerpoint/2010/main" val="2375209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矩形 1"/>
          <p:cNvSpPr>
            <a:spLocks noChangeArrowheads="1"/>
          </p:cNvSpPr>
          <p:nvPr/>
        </p:nvSpPr>
        <p:spPr bwMode="auto">
          <a:xfrm>
            <a:off x="2135188" y="1193800"/>
            <a:ext cx="7777162" cy="922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kumimoji="0" lang="en-US" altLang="zh-CN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640014" y="247650"/>
            <a:ext cx="6600825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宋体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宋体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宋体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宋体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宋体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kumimoji="0" lang="en-US" altLang="zh-CN" sz="4000" dirty="0">
                <a:latin typeface="Arial" charset="0"/>
                <a:ea typeface="黑体" charset="0"/>
              </a:rPr>
              <a:t>IDE</a:t>
            </a:r>
            <a:r>
              <a:rPr kumimoji="0" lang="zh-CN" altLang="en-US" sz="4000" dirty="0">
                <a:latin typeface="Arial" charset="0"/>
                <a:ea typeface="黑体" charset="0"/>
              </a:rPr>
              <a:t>配置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941181" y="1193800"/>
            <a:ext cx="8280400" cy="525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推荐使用</a:t>
            </a:r>
            <a:r>
              <a:rPr kumimoji="0" lang="en-US" altLang="zh-CN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ECLIPSE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课程资源库里</a:t>
            </a:r>
            <a:endParaRPr kumimoji="0" lang="en-US" altLang="zh-CN" sz="32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解压缩</a:t>
            </a:r>
            <a:r>
              <a:rPr kumimoji="0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eclipse-java-luna-SR2-win32.zip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启动</a:t>
            </a:r>
            <a:r>
              <a:rPr kumimoji="0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Eclipse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在</a:t>
            </a:r>
            <a:r>
              <a:rPr kumimoji="0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Eclipse</a:t>
            </a:r>
            <a:r>
              <a:rPr kumimoji="0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中的</a:t>
            </a:r>
            <a:r>
              <a:rPr kumimoji="0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Window</a:t>
            </a:r>
            <a:r>
              <a:rPr kumimoji="0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下的</a:t>
            </a:r>
            <a:r>
              <a:rPr kumimoji="0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Preference</a:t>
            </a:r>
            <a:r>
              <a:rPr kumimoji="0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里的</a:t>
            </a:r>
            <a:r>
              <a:rPr kumimoji="0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Java-&gt;Installed JREs</a:t>
            </a:r>
            <a:r>
              <a:rPr kumimoji="0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中添加你安装的</a:t>
            </a:r>
            <a:r>
              <a:rPr kumimoji="0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JRE6</a:t>
            </a:r>
            <a:r>
              <a:rPr kumimoji="0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，并选为默认的</a:t>
            </a:r>
            <a:r>
              <a:rPr kumimoji="0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JRE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kumimoji="0"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kumimoji="0"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kumimoji="0"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kumimoji="0" lang="zh-CN" altLang="en-US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1554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矩形 1"/>
          <p:cNvSpPr>
            <a:spLocks noChangeArrowheads="1"/>
          </p:cNvSpPr>
          <p:nvPr/>
        </p:nvSpPr>
        <p:spPr bwMode="auto">
          <a:xfrm>
            <a:off x="983432" y="1124744"/>
            <a:ext cx="10873208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解压出</a:t>
            </a:r>
            <a:r>
              <a:rPr kumimoji="0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TCP_Test_2020.rar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将工程根目录</a:t>
            </a:r>
            <a:r>
              <a:rPr kumimoji="0"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TCP_Test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导入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E</a:t>
            </a:r>
            <a:r>
              <a:rPr kumimoji="0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clipse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（勾选</a:t>
            </a:r>
            <a:r>
              <a:rPr kumimoji="0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projects into workspace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将</a:t>
            </a:r>
            <a:r>
              <a:rPr kumimoji="0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TCP_TestSys.jar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类库加入到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Project Properties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Java Build Path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Libraries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Add JARs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中</a:t>
            </a:r>
            <a:endParaRPr kumimoji="0" lang="en-US" altLang="zh-CN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加入后整个代码里不在显示错误符号</a:t>
            </a:r>
            <a:endParaRPr kumimoji="0" lang="en-US" altLang="zh-CN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运行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TestRun.java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检验是否配置成功</a:t>
            </a:r>
            <a:endParaRPr kumimoji="0" lang="en-US" altLang="zh-CN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由于运行后会绑定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TCP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端口，因此每次于运行结束后，需要手动在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Console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界面结束程序，释放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TCP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端口。</a:t>
            </a:r>
            <a:endParaRPr kumimoji="0" lang="en-US" altLang="zh-CN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640014" y="247650"/>
            <a:ext cx="6600825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宋体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宋体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宋体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宋体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宋体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kumimoji="0" lang="en-US" altLang="zh-CN" sz="4000" dirty="0">
                <a:latin typeface="Arial" charset="0"/>
                <a:ea typeface="黑体" charset="0"/>
              </a:rPr>
              <a:t>Eclipse</a:t>
            </a:r>
            <a:r>
              <a:rPr kumimoji="0" lang="zh-CN" altLang="en-US" sz="4000" dirty="0">
                <a:latin typeface="Arial" charset="0"/>
                <a:ea typeface="黑体" charset="0"/>
              </a:rPr>
              <a:t>配置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37726" y="339294"/>
            <a:ext cx="5112568" cy="1677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ctr">
            <a:norm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kumimoji="0" lang="en-US" altLang="zh-CN" sz="2800" dirty="0" err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Retrans</a:t>
            </a:r>
            <a:r>
              <a:rPr kumimoji="0"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类</a:t>
            </a:r>
            <a:endParaRPr kumimoji="0" lang="en-US" altLang="zh-CN" sz="2800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1314450" lvl="1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Go-Back-N</a:t>
            </a:r>
            <a:r>
              <a:rPr kumimoji="0"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重发</a:t>
            </a:r>
            <a:endParaRPr kumimoji="0" lang="en-US" altLang="zh-CN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1314450" lvl="1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Go-Back-N</a:t>
            </a:r>
            <a:r>
              <a:rPr kumimoji="0"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累积确认</a:t>
            </a:r>
            <a:endParaRPr kumimoji="0" lang="en-US" altLang="zh-CN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D581AC-F13C-4C40-A804-2DC17D5E6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742" y="539750"/>
            <a:ext cx="6108700" cy="57785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5591D3E-AE41-054C-B7F9-C5CDBEC1EFF2}"/>
              </a:ext>
            </a:extLst>
          </p:cNvPr>
          <p:cNvSpPr/>
          <p:nvPr/>
        </p:nvSpPr>
        <p:spPr>
          <a:xfrm>
            <a:off x="250652" y="2186191"/>
            <a:ext cx="6108700" cy="4075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" altLang="zh-CN" u="sng" dirty="0">
                <a:solidFill>
                  <a:srgbClr val="0000C0"/>
                </a:solidFill>
                <a:latin typeface="Menlo" panose="020B0609030804020204" pitchFamily="49" charset="0"/>
              </a:rPr>
              <a:t>timer</a:t>
            </a:r>
            <a:r>
              <a:rPr lang="en" altLang="zh-CN" dirty="0">
                <a:latin typeface="Menlo" panose="020B0609030804020204" pitchFamily="49" charset="0"/>
              </a:rPr>
              <a:t>= </a:t>
            </a:r>
            <a:r>
              <a:rPr lang="en" altLang="zh-CN" b="1" dirty="0">
                <a:solidFill>
                  <a:srgbClr val="7F0055"/>
                </a:solidFill>
                <a:latin typeface="Menlo" panose="020B0609030804020204" pitchFamily="49" charset="0"/>
              </a:rPr>
              <a:t>new</a:t>
            </a:r>
            <a:r>
              <a:rPr lang="en" altLang="zh-CN" dirty="0">
                <a:latin typeface="Menlo" panose="020B0609030804020204" pitchFamily="49" charset="0"/>
              </a:rPr>
              <a:t> </a:t>
            </a:r>
            <a:r>
              <a:rPr lang="en" altLang="zh-CN" u="sng" dirty="0" err="1">
                <a:latin typeface="Menlo" panose="020B0609030804020204" pitchFamily="49" charset="0"/>
              </a:rPr>
              <a:t>UDT_Timer</a:t>
            </a:r>
            <a:r>
              <a:rPr lang="en" altLang="zh-CN" dirty="0">
                <a:latin typeface="Menlo" panose="020B0609030804020204" pitchFamily="49" charset="0"/>
              </a:rPr>
              <a:t>();</a:t>
            </a:r>
          </a:p>
          <a:p>
            <a:pPr>
              <a:lnSpc>
                <a:spcPct val="125000"/>
              </a:lnSpc>
            </a:pPr>
            <a:r>
              <a:rPr lang="en" altLang="zh-CN" dirty="0">
                <a:solidFill>
                  <a:srgbClr val="0000C0"/>
                </a:solidFill>
                <a:latin typeface="Menlo" panose="020B0609030804020204" pitchFamily="49" charset="0"/>
              </a:rPr>
              <a:t>task</a:t>
            </a:r>
            <a:r>
              <a:rPr lang="en" altLang="zh-CN" dirty="0">
                <a:latin typeface="Menlo" panose="020B0609030804020204" pitchFamily="49" charset="0"/>
              </a:rPr>
              <a:t> = </a:t>
            </a:r>
            <a:r>
              <a:rPr lang="en" altLang="zh-CN" b="1" dirty="0">
                <a:solidFill>
                  <a:srgbClr val="7F0055"/>
                </a:solidFill>
                <a:latin typeface="Menlo" panose="020B0609030804020204" pitchFamily="49" charset="0"/>
              </a:rPr>
              <a:t>new</a:t>
            </a:r>
            <a:r>
              <a:rPr lang="en" altLang="zh-CN" dirty="0">
                <a:latin typeface="Menlo" panose="020B0609030804020204" pitchFamily="49" charset="0"/>
              </a:rPr>
              <a:t> </a:t>
            </a:r>
            <a:r>
              <a:rPr lang="en" altLang="zh-CN" dirty="0" err="1">
                <a:latin typeface="Menlo" panose="020B0609030804020204" pitchFamily="49" charset="0"/>
              </a:rPr>
              <a:t>TaskPacketsRetrans</a:t>
            </a:r>
            <a:r>
              <a:rPr lang="en" altLang="zh-CN" dirty="0">
                <a:latin typeface="Menlo" panose="020B0609030804020204" pitchFamily="49" charset="0"/>
              </a:rPr>
              <a:t>(</a:t>
            </a:r>
            <a:r>
              <a:rPr lang="en" altLang="zh-CN" u="sng" dirty="0">
                <a:latin typeface="Menlo" panose="020B0609030804020204" pitchFamily="49" charset="0"/>
              </a:rPr>
              <a:t>client</a:t>
            </a:r>
            <a:r>
              <a:rPr lang="en" altLang="zh-CN" dirty="0">
                <a:latin typeface="Menlo" panose="020B0609030804020204" pitchFamily="49" charset="0"/>
              </a:rPr>
              <a:t>, </a:t>
            </a:r>
            <a:r>
              <a:rPr lang="en" altLang="zh-CN" u="sng" dirty="0">
                <a:latin typeface="Menlo" panose="020B0609030804020204" pitchFamily="49" charset="0"/>
              </a:rPr>
              <a:t>packets</a:t>
            </a:r>
            <a:r>
              <a:rPr lang="en" altLang="zh-CN" dirty="0">
                <a:latin typeface="Menlo" panose="020B0609030804020204" pitchFamily="49" charset="0"/>
              </a:rPr>
              <a:t>);</a:t>
            </a:r>
          </a:p>
          <a:p>
            <a:pPr>
              <a:lnSpc>
                <a:spcPct val="125000"/>
              </a:lnSpc>
            </a:pPr>
            <a:r>
              <a:rPr lang="en" altLang="zh-CN" dirty="0">
                <a:solidFill>
                  <a:srgbClr val="3F7F5F"/>
                </a:solidFill>
                <a:latin typeface="Menlo" panose="020B0609030804020204" pitchFamily="49" charset="0"/>
              </a:rPr>
              <a:t>//</a:t>
            </a:r>
            <a:r>
              <a:rPr lang="zh-CN" altLang="en-US" dirty="0">
                <a:solidFill>
                  <a:srgbClr val="3F7F5F"/>
                </a:solidFill>
                <a:latin typeface="Menlo" panose="020B0609030804020204" pitchFamily="49" charset="0"/>
              </a:rPr>
              <a:t> 输入</a:t>
            </a:r>
            <a:r>
              <a:rPr lang="en-US" altLang="zh-CN" dirty="0">
                <a:solidFill>
                  <a:srgbClr val="3F7F5F"/>
                </a:solidFill>
                <a:latin typeface="Menlo" panose="020B0609030804020204" pitchFamily="49" charset="0"/>
              </a:rPr>
              <a:t>TCP</a:t>
            </a:r>
            <a:r>
              <a:rPr lang="zh-CN" altLang="en-US" dirty="0">
                <a:solidFill>
                  <a:srgbClr val="3F7F5F"/>
                </a:solidFill>
                <a:latin typeface="Menlo" panose="020B0609030804020204" pitchFamily="49" charset="0"/>
              </a:rPr>
              <a:t>发送端：</a:t>
            </a:r>
            <a:r>
              <a:rPr lang="en-US" altLang="zh-CN" dirty="0" err="1">
                <a:solidFill>
                  <a:srgbClr val="3F7F5F"/>
                </a:solidFill>
                <a:latin typeface="Menlo" panose="020B0609030804020204" pitchFamily="49" charset="0"/>
              </a:rPr>
              <a:t>clinet</a:t>
            </a:r>
            <a:r>
              <a:rPr lang="zh-CN" altLang="en-US" dirty="0">
                <a:solidFill>
                  <a:srgbClr val="3F7F5F"/>
                </a:solidFill>
                <a:latin typeface="Menlo" panose="020B0609030804020204" pitchFamily="49" charset="0"/>
              </a:rPr>
              <a:t>；</a:t>
            </a:r>
            <a:r>
              <a:rPr lang="en-US" altLang="zh-CN" dirty="0">
                <a:solidFill>
                  <a:srgbClr val="3F7F5F"/>
                </a:solidFill>
                <a:latin typeface="Menlo" panose="020B0609030804020204" pitchFamily="49" charset="0"/>
              </a:rPr>
              <a:t>TCP_PACKET</a:t>
            </a:r>
            <a:r>
              <a:rPr lang="zh-CN" altLang="en-US" dirty="0">
                <a:solidFill>
                  <a:srgbClr val="3F7F5F"/>
                </a:solidFill>
                <a:latin typeface="Menlo" panose="020B0609030804020204" pitchFamily="49" charset="0"/>
              </a:rPr>
              <a:t>数组：</a:t>
            </a:r>
            <a:r>
              <a:rPr lang="en-US" altLang="zh-CN" dirty="0">
                <a:solidFill>
                  <a:srgbClr val="3F7F5F"/>
                </a:solidFill>
                <a:latin typeface="Menlo" panose="020B0609030804020204" pitchFamily="49" charset="0"/>
              </a:rPr>
              <a:t>packets</a:t>
            </a:r>
            <a:endParaRPr lang="zh-CN" altLang="en-US" dirty="0"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</a:pPr>
            <a:r>
              <a:rPr lang="en" altLang="zh-CN" u="sng" dirty="0" err="1">
                <a:solidFill>
                  <a:srgbClr val="0000C0"/>
                </a:solidFill>
                <a:latin typeface="Menlo" panose="020B0609030804020204" pitchFamily="49" charset="0"/>
              </a:rPr>
              <a:t>timer</a:t>
            </a:r>
            <a:r>
              <a:rPr lang="en" altLang="zh-CN" dirty="0" err="1">
                <a:latin typeface="Menlo" panose="020B0609030804020204" pitchFamily="49" charset="0"/>
              </a:rPr>
              <a:t>.schedule</a:t>
            </a:r>
            <a:r>
              <a:rPr lang="en" altLang="zh-CN" dirty="0"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C0"/>
                </a:solidFill>
                <a:latin typeface="Menlo" panose="020B0609030804020204" pitchFamily="49" charset="0"/>
              </a:rPr>
              <a:t>task</a:t>
            </a:r>
            <a:r>
              <a:rPr lang="en" altLang="zh-CN" dirty="0">
                <a:latin typeface="Menlo" panose="020B0609030804020204" pitchFamily="49" charset="0"/>
              </a:rPr>
              <a:t>, </a:t>
            </a:r>
            <a:r>
              <a:rPr lang="en-US" altLang="zh-CN" dirty="0">
                <a:latin typeface="Menlo" panose="020B0609030804020204" pitchFamily="49" charset="0"/>
              </a:rPr>
              <a:t>1000</a:t>
            </a:r>
            <a:r>
              <a:rPr lang="en" altLang="zh-CN" dirty="0">
                <a:latin typeface="Menlo" panose="020B0609030804020204" pitchFamily="49" charset="0"/>
              </a:rPr>
              <a:t>, </a:t>
            </a:r>
            <a:r>
              <a:rPr lang="en-US" altLang="zh-CN" dirty="0">
                <a:latin typeface="Menlo" panose="020B0609030804020204" pitchFamily="49" charset="0"/>
              </a:rPr>
              <a:t>1000</a:t>
            </a:r>
            <a:r>
              <a:rPr lang="en" altLang="zh-CN" dirty="0">
                <a:latin typeface="Menlo" panose="020B0609030804020204" pitchFamily="49" charset="0"/>
              </a:rPr>
              <a:t>);</a:t>
            </a:r>
          </a:p>
          <a:p>
            <a:pPr>
              <a:lnSpc>
                <a:spcPct val="125000"/>
              </a:lnSpc>
            </a:pPr>
            <a:r>
              <a:rPr lang="en" altLang="zh-CN" dirty="0">
                <a:solidFill>
                  <a:srgbClr val="3F7F5F"/>
                </a:solidFill>
                <a:latin typeface="Menlo" panose="020B0609030804020204" pitchFamily="49" charset="0"/>
              </a:rPr>
              <a:t>//</a:t>
            </a:r>
            <a:r>
              <a:rPr lang="zh-CN" altLang="en-US" dirty="0">
                <a:solidFill>
                  <a:srgbClr val="3F7F5F"/>
                </a:solidFill>
                <a:latin typeface="Menlo" panose="020B0609030804020204" pitchFamily="49" charset="0"/>
              </a:rPr>
              <a:t> 倒计时</a:t>
            </a:r>
            <a:r>
              <a:rPr lang="en-US" altLang="zh-CN" dirty="0">
                <a:solidFill>
                  <a:srgbClr val="3F7F5F"/>
                </a:solidFill>
                <a:latin typeface="Menlo" panose="020B0609030804020204" pitchFamily="49" charset="0"/>
              </a:rPr>
              <a:t>1s</a:t>
            </a:r>
            <a:r>
              <a:rPr lang="zh-CN" altLang="en-US" dirty="0">
                <a:solidFill>
                  <a:srgbClr val="3F7F5F"/>
                </a:solidFill>
                <a:latin typeface="Menlo" panose="020B0609030804020204" pitchFamily="49" charset="0"/>
              </a:rPr>
              <a:t>，倒计时结束后，重启</a:t>
            </a:r>
            <a:r>
              <a:rPr lang="en-US" altLang="zh-CN" dirty="0">
                <a:solidFill>
                  <a:srgbClr val="3F7F5F"/>
                </a:solidFill>
                <a:latin typeface="Menlo" panose="020B0609030804020204" pitchFamily="49" charset="0"/>
              </a:rPr>
              <a:t>1s</a:t>
            </a:r>
            <a:r>
              <a:rPr lang="zh-CN" altLang="en-US" dirty="0">
                <a:solidFill>
                  <a:srgbClr val="3F7F5F"/>
                </a:solidFill>
                <a:latin typeface="Menlo" panose="020B0609030804020204" pitchFamily="49" charset="0"/>
              </a:rPr>
              <a:t>倒计时</a:t>
            </a:r>
            <a:endParaRPr lang="en-US" altLang="zh-CN" dirty="0">
              <a:solidFill>
                <a:srgbClr val="3F7F5F"/>
              </a:solidFill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</a:pPr>
            <a:endParaRPr lang="en-US" altLang="zh-CN" dirty="0">
              <a:solidFill>
                <a:srgbClr val="3F7F5F"/>
              </a:solidFill>
              <a:latin typeface="Menlo" panose="020B0609030804020204" pitchFamily="49" charset="0"/>
            </a:endParaRPr>
          </a:p>
          <a:p>
            <a:pPr>
              <a:lnSpc>
                <a:spcPct val="125000"/>
              </a:lnSpc>
            </a:pPr>
            <a:endParaRPr lang="en-US" altLang="zh-CN" dirty="0">
              <a:solidFill>
                <a:srgbClr val="3F7F5F"/>
              </a:solidFill>
              <a:latin typeface="Menlo" panose="020B0609030804020204" pitchFamily="49" charset="0"/>
            </a:endParaRPr>
          </a:p>
          <a:p>
            <a:r>
              <a:rPr lang="en" altLang="zh-CN" u="sng" dirty="0" err="1"/>
              <a:t>t</a:t>
            </a:r>
            <a:r>
              <a:rPr lang="en" altLang="zh-CN" u="sng" dirty="0" err="1">
                <a:solidFill>
                  <a:srgbClr val="0000C0"/>
                </a:solidFill>
                <a:latin typeface="Menlo" panose="020B0609030804020204" pitchFamily="49" charset="0"/>
              </a:rPr>
              <a:t>imer.</a:t>
            </a:r>
            <a:r>
              <a:rPr lang="en" altLang="zh-CN" dirty="0" err="1">
                <a:latin typeface="Menlo" panose="020B0609030804020204" pitchFamily="49" charset="0"/>
              </a:rPr>
              <a:t>cancel</a:t>
            </a:r>
            <a:r>
              <a:rPr lang="en" altLang="zh-CN">
                <a:latin typeface="Menlo" panose="020B0609030804020204" pitchFamily="49" charset="0"/>
              </a:rPr>
              <a:t>(); </a:t>
            </a:r>
            <a:endParaRPr lang="en" altLang="zh-CN" dirty="0">
              <a:latin typeface="Menlo" panose="020B0609030804020204" pitchFamily="49" charset="0"/>
            </a:endParaRPr>
          </a:p>
          <a:p>
            <a:endParaRPr lang="en" altLang="zh-CN" dirty="0"/>
          </a:p>
          <a:p>
            <a:pPr>
              <a:lnSpc>
                <a:spcPct val="125000"/>
              </a:lnSpc>
            </a:pPr>
            <a:r>
              <a:rPr lang="en" altLang="zh-CN" dirty="0">
                <a:solidFill>
                  <a:srgbClr val="3F7F5F"/>
                </a:solidFill>
                <a:latin typeface="Menlo" panose="020B0609030804020204" pitchFamily="49" charset="0"/>
              </a:rPr>
              <a:t>//</a:t>
            </a:r>
            <a:r>
              <a:rPr lang="zh-CN" altLang="en-US" dirty="0">
                <a:solidFill>
                  <a:srgbClr val="3F7F5F"/>
                </a:solidFill>
                <a:latin typeface="Menlo" panose="020B0609030804020204" pitchFamily="49" charset="0"/>
              </a:rPr>
              <a:t> 结束计时器</a:t>
            </a:r>
            <a:endParaRPr lang="en-US" altLang="zh-CN" dirty="0">
              <a:solidFill>
                <a:srgbClr val="3F7F5F"/>
              </a:solidFill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188913"/>
            <a:ext cx="8001000" cy="608012"/>
          </a:xfrm>
        </p:spPr>
        <p:txBody>
          <a:bodyPr/>
          <a:lstStyle/>
          <a:p>
            <a:pPr algn="ctr"/>
            <a:r>
              <a:rPr kumimoji="0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  <a:ea typeface="方正姚体" panose="02010601030101010101" pitchFamily="2" charset="-122"/>
              </a:rPr>
              <a:t>RDT1.0: </a:t>
            </a:r>
            <a:r>
              <a:rPr kumimoji="0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  <a:ea typeface="方正姚体" panose="02010601030101010101" pitchFamily="2" charset="-122"/>
              </a:rPr>
              <a:t>在</a:t>
            </a:r>
            <a:r>
              <a:rPr kumimoji="0" lang="zh-CN" altLang="en-US" sz="32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  <a:ea typeface="方正姚体" panose="02010601030101010101" pitchFamily="2" charset="-122"/>
              </a:rPr>
              <a:t>可靠信道</a:t>
            </a:r>
            <a:r>
              <a:rPr kumimoji="0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  <a:ea typeface="方正姚体" panose="02010601030101010101" pitchFamily="2" charset="-122"/>
              </a:rPr>
              <a:t>上进行可靠的数据传输</a:t>
            </a:r>
          </a:p>
        </p:txBody>
      </p:sp>
      <p:sp>
        <p:nvSpPr>
          <p:cNvPr id="12290" name="Rectangle 3"/>
          <p:cNvSpPr txBox="1">
            <a:spLocks noChangeArrowheads="1"/>
          </p:cNvSpPr>
          <p:nvPr/>
        </p:nvSpPr>
        <p:spPr bwMode="auto">
          <a:xfrm>
            <a:off x="1847851" y="1125539"/>
            <a:ext cx="8031163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55588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657225" indent="-246063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</a:pPr>
            <a:r>
              <a:rPr kumimoji="0" lang="zh-CN" altLang="en-US" sz="2800" b="1">
                <a:solidFill>
                  <a:schemeClr val="hlink"/>
                </a:solidFill>
                <a:latin typeface="Comic Sans MS" panose="030F0702030302020204" pitchFamily="66" charset="0"/>
              </a:rPr>
              <a:t>假设</a:t>
            </a:r>
            <a:r>
              <a:rPr kumimoji="0" lang="en-US" altLang="zh-CN" sz="2800">
                <a:latin typeface="Comic Sans MS" panose="030F0702030302020204" pitchFamily="66" charset="0"/>
              </a:rPr>
              <a:t>: </a:t>
            </a:r>
            <a:r>
              <a:rPr kumimoji="0" lang="zh-CN" altLang="en-US" sz="2800"/>
              <a:t>所依赖的信道非常可靠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</a:pPr>
            <a:r>
              <a:rPr kumimoji="0" lang="zh-CN" altLang="en-US" sz="2600">
                <a:solidFill>
                  <a:schemeClr val="accent2"/>
                </a:solidFill>
              </a:rPr>
              <a:t>不可能有位错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</a:pPr>
            <a:r>
              <a:rPr kumimoji="0" lang="zh-CN" altLang="en-US" sz="2600">
                <a:solidFill>
                  <a:schemeClr val="accent2"/>
                </a:solidFill>
              </a:rPr>
              <a:t>不会丢失数据</a:t>
            </a:r>
          </a:p>
          <a:p>
            <a: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</a:pPr>
            <a:r>
              <a:rPr kumimoji="0" lang="zh-CN" altLang="en-US" sz="2800" b="1">
                <a:solidFill>
                  <a:schemeClr val="hlink"/>
                </a:solidFill>
                <a:latin typeface="Comic Sans MS" panose="030F0702030302020204" pitchFamily="66" charset="0"/>
              </a:rPr>
              <a:t>方法</a:t>
            </a:r>
            <a:r>
              <a:rPr kumimoji="0" lang="en-US" altLang="zh-CN" sz="2800">
                <a:latin typeface="Comic Sans MS" panose="030F0702030302020204" pitchFamily="66" charset="0"/>
              </a:rPr>
              <a:t>: </a:t>
            </a:r>
            <a:r>
              <a:rPr kumimoji="0" lang="zh-CN" altLang="en-US" sz="2800"/>
              <a:t>分别为发送方和接收方建立 </a:t>
            </a:r>
            <a:r>
              <a:rPr kumimoji="0" lang="en-US" altLang="zh-CN" sz="2800"/>
              <a:t>FSMs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</a:pPr>
            <a:r>
              <a:rPr kumimoji="0" lang="zh-CN" altLang="en-US" sz="2600">
                <a:solidFill>
                  <a:schemeClr val="accent2"/>
                </a:solidFill>
              </a:rPr>
              <a:t>发送方将数据送入所依赖的信道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</a:pPr>
            <a:r>
              <a:rPr kumimoji="0" lang="zh-CN" altLang="en-US" sz="2600">
                <a:solidFill>
                  <a:schemeClr val="accent2"/>
                </a:solidFill>
              </a:rPr>
              <a:t>接收方从所依赖的信道读出数据</a:t>
            </a:r>
          </a:p>
        </p:txBody>
      </p:sp>
      <p:pic>
        <p:nvPicPr>
          <p:cNvPr id="12291" name="Picture 4" descr="rdt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4522788"/>
            <a:ext cx="8785225" cy="185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48525" y="1484313"/>
            <a:ext cx="3240088" cy="83026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eorgia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例子：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hlinkClick r:id="rId3" action="ppaction://hlinkfile"/>
              </a:rPr>
              <a:t>Sender_1.0</a:t>
            </a:r>
            <a:endParaRPr lang="en-US" altLang="zh-CN" sz="2400" b="1">
              <a:solidFill>
                <a:srgbClr val="FF0000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eaLnBrk="1" hangingPunct="1">
              <a:defRPr/>
            </a:pP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            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hlinkClick r:id="rId4" action="ppaction://hlinkfile"/>
              </a:rPr>
              <a:t>Receiver_1.0</a:t>
            </a:r>
            <a:endParaRPr lang="zh-CN" altLang="en-US" sz="2400" b="1">
              <a:solidFill>
                <a:srgbClr val="FF0000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248525" y="1412876"/>
            <a:ext cx="3240088" cy="1008063"/>
          </a:xfrm>
          <a:prstGeom prst="roundRect">
            <a:avLst/>
          </a:prstGeom>
          <a:noFill/>
          <a:ln w="730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0277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15888"/>
            <a:ext cx="8229600" cy="773112"/>
          </a:xfrm>
        </p:spPr>
        <p:txBody>
          <a:bodyPr/>
          <a:lstStyle/>
          <a:p>
            <a:pPr algn="ctr"/>
            <a:r>
              <a:rPr kumimoji="0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RDT2.0: </a:t>
            </a:r>
            <a:r>
              <a:rPr kumimoji="0"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  <a:ea typeface="方正姚体" panose="02010601030101010101" pitchFamily="2" charset="-122"/>
              </a:rPr>
              <a:t>信道上可能出现</a:t>
            </a:r>
            <a:r>
              <a:rPr kumimoji="0" lang="zh-CN" altLang="en-US" sz="36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  <a:ea typeface="方正姚体" panose="02010601030101010101" pitchFamily="2" charset="-122"/>
              </a:rPr>
              <a:t>位错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1774826" y="1003301"/>
            <a:ext cx="8507413" cy="5305425"/>
          </a:xfrm>
        </p:spPr>
        <p:txBody>
          <a:bodyPr/>
          <a:lstStyle/>
          <a:p>
            <a:r>
              <a:rPr kumimoji="0" lang="zh-CN" altLang="en-US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假设</a:t>
            </a:r>
            <a:r>
              <a:rPr kumimoji="0"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</a:p>
          <a:p>
            <a:pPr lvl="1"/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底层信道传输过程中，个别数据包的某些字节可能发生位错</a:t>
            </a:r>
            <a:endParaRPr kumimoji="0" lang="en-US" altLang="zh-CN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0" lang="zh-CN" altLang="en-US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r>
              <a:rPr kumimoji="0"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</a:p>
          <a:p>
            <a:pPr lvl="1"/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使用校验和算法检查数据包的正确性（发送前计算</a:t>
            </a:r>
            <a:r>
              <a:rPr kumimoji="0"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接收后校验）</a:t>
            </a:r>
            <a:endParaRPr kumimoji="0" lang="en-US" altLang="zh-CN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</a:t>
            </a:r>
            <a:r>
              <a:rPr kumimoji="0" lang="en-US" altLang="zh-CN" b="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CheckSum</a:t>
            </a:r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类中的</a:t>
            </a:r>
            <a:r>
              <a:rPr kumimoji="0" lang="en-US" altLang="zh-CN" b="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computeChkSum</a:t>
            </a:r>
            <a:r>
              <a:rPr kumimoji="0"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()</a:t>
            </a:r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endParaRPr kumimoji="0" lang="en-US" altLang="zh-CN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Font typeface="Georgia" panose="02040502050405020303" pitchFamily="18" charset="0"/>
              <a:buNone/>
            </a:pPr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0" lang="zh-CN" altLang="en-US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：只需校验</a:t>
            </a:r>
            <a:r>
              <a:rPr kumimoji="0"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TCP</a:t>
            </a:r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首部中的</a:t>
            </a:r>
            <a:r>
              <a:rPr kumimoji="0"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seq</a:t>
            </a:r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ack</a:t>
            </a:r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sum</a:t>
            </a:r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，及</a:t>
            </a:r>
            <a:r>
              <a:rPr kumimoji="0"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TCP</a:t>
            </a:r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数据字段；校验和计算涉及数据类型的转换，而</a:t>
            </a:r>
            <a:r>
              <a:rPr kumimoji="0"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Java</a:t>
            </a:r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中没有</a:t>
            </a:r>
            <a:r>
              <a:rPr kumimoji="0"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unsigned</a:t>
            </a:r>
            <a:r>
              <a:rPr kumimoji="0"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类型，需要特殊处理）</a:t>
            </a:r>
          </a:p>
        </p:txBody>
      </p:sp>
    </p:spTree>
    <p:extLst>
      <p:ext uri="{BB962C8B-B14F-4D97-AF65-F5344CB8AC3E}">
        <p14:creationId xmlns:p14="http://schemas.microsoft.com/office/powerpoint/2010/main" val="53620883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54188" y="44450"/>
            <a:ext cx="8229600" cy="635000"/>
          </a:xfrm>
        </p:spPr>
        <p:txBody>
          <a:bodyPr/>
          <a:lstStyle/>
          <a:p>
            <a:r>
              <a:rPr kumimoji="0" lang="en-US" altLang="zh-CN" sz="3200">
                <a:latin typeface="Arial" panose="020B0604020202020204" pitchFamily="34" charset="0"/>
                <a:ea typeface="黑体" panose="02010609060101010101" pitchFamily="49" charset="-122"/>
              </a:rPr>
              <a:t>RDT2.0:</a:t>
            </a:r>
            <a:r>
              <a:rPr kumimoji="0" lang="en-US" altLang="zh-CN" sz="4000">
                <a:latin typeface="Arial" panose="020B0604020202020204" pitchFamily="34" charset="0"/>
              </a:rPr>
              <a:t> </a:t>
            </a:r>
            <a:r>
              <a:rPr kumimoji="0" lang="zh-CN" altLang="en-US" sz="3200">
                <a:latin typeface="Arial" panose="020B0604020202020204" pitchFamily="34" charset="0"/>
                <a:ea typeface="黑体" panose="02010609060101010101" pitchFamily="49" charset="-122"/>
              </a:rPr>
              <a:t>有限状态机定义</a:t>
            </a:r>
          </a:p>
        </p:txBody>
      </p:sp>
      <p:pic>
        <p:nvPicPr>
          <p:cNvPr id="14338" name="Picture 3" descr="rdt20_send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1962150"/>
            <a:ext cx="5510212" cy="341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8" name="Picture 4" descr="rdt20_rcv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76" y="1509714"/>
            <a:ext cx="2544763" cy="508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3071813" y="1268413"/>
            <a:ext cx="1770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0"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发送方</a:t>
            </a:r>
            <a:r>
              <a:rPr kumimoji="0" lang="en-US" altLang="zh-CN" b="1">
                <a:latin typeface="Comic Sans MS" panose="030F0702030302020204" pitchFamily="66" charset="0"/>
                <a:ea typeface="黑体" panose="02010609060101010101" pitchFamily="49" charset="-122"/>
              </a:rPr>
              <a:t>FSM</a:t>
            </a:r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7680326" y="981075"/>
            <a:ext cx="1770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0"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接收方</a:t>
            </a:r>
            <a:r>
              <a:rPr kumimoji="0" lang="en-US" altLang="zh-CN" b="1">
                <a:latin typeface="Comic Sans MS" panose="030F0702030302020204" pitchFamily="66" charset="0"/>
                <a:ea typeface="黑体" panose="02010609060101010101" pitchFamily="49" charset="-122"/>
              </a:rPr>
              <a:t>FSM</a:t>
            </a:r>
          </a:p>
        </p:txBody>
      </p:sp>
    </p:spTree>
    <p:extLst>
      <p:ext uri="{BB962C8B-B14F-4D97-AF65-F5344CB8AC3E}">
        <p14:creationId xmlns:p14="http://schemas.microsoft.com/office/powerpoint/2010/main" val="29506710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kumimoji="0"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RDT2.0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有一个致命的缺点</a:t>
            </a:r>
            <a:r>
              <a:rPr kumimoji="0"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!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19289" y="1341438"/>
            <a:ext cx="4105275" cy="525621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80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ACK/NAK</a:t>
            </a: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报文出错</a:t>
            </a:r>
            <a:r>
              <a:rPr kumimoji="0"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  <a:endParaRPr kumimoji="0"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0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发送方将不会知道接收端发生了什么</a:t>
            </a:r>
            <a:r>
              <a:rPr kumimoji="0"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!</a:t>
            </a:r>
          </a:p>
          <a:p>
            <a:r>
              <a:rPr kumimoji="0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假如进行重传</a:t>
            </a:r>
            <a:r>
              <a:rPr kumimoji="0"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0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可能发生数据重复</a:t>
            </a:r>
            <a:endParaRPr kumimoji="0"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kumimoji="0" lang="zh-CN" altLang="en-US" sz="280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怎么办</a:t>
            </a:r>
            <a:r>
              <a:rPr kumimoji="0" lang="en-US" altLang="zh-CN" sz="280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?</a:t>
            </a:r>
          </a:p>
          <a:p>
            <a:r>
              <a:rPr kumimoji="0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发送 </a:t>
            </a:r>
            <a:r>
              <a:rPr kumimoji="0" lang="en-US" altLang="zh-CN" sz="2400">
                <a:latin typeface="Comic Sans MS" panose="030F0702030302020204" pitchFamily="66" charset="0"/>
                <a:ea typeface="黑体" panose="02010609060101010101" pitchFamily="49" charset="-122"/>
              </a:rPr>
              <a:t>ACK/NAK</a:t>
            </a:r>
            <a:r>
              <a:rPr kumimoji="0"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来回应接收方的 </a:t>
            </a:r>
            <a:r>
              <a:rPr kumimoji="0" lang="en-US" altLang="zh-CN" sz="2400">
                <a:latin typeface="Comic Sans MS" panose="030F0702030302020204" pitchFamily="66" charset="0"/>
                <a:ea typeface="黑体" panose="02010609060101010101" pitchFamily="49" charset="-122"/>
              </a:rPr>
              <a:t>ACK/NAK?</a:t>
            </a:r>
          </a:p>
          <a:p>
            <a:pPr lvl="1"/>
            <a:r>
              <a:rPr kumimoji="0" lang="zh-CN" altLang="en-US" sz="2000">
                <a:latin typeface="黑体" panose="02010609060101010101" pitchFamily="49" charset="-122"/>
                <a:ea typeface="楷体" panose="02010609060101010101" pitchFamily="49" charset="-122"/>
              </a:rPr>
              <a:t>那么如果发送方的</a:t>
            </a:r>
            <a:r>
              <a:rPr kumimoji="0" lang="zh-CN" altLang="en-US" sz="2000">
                <a:latin typeface="Comic Sans MS" panose="030F0702030302020204" pitchFamily="66" charset="0"/>
                <a:ea typeface="楷体" panose="02010609060101010101" pitchFamily="49" charset="-122"/>
              </a:rPr>
              <a:t> </a:t>
            </a:r>
            <a:r>
              <a:rPr kumimoji="0" lang="en-US" altLang="zh-CN" sz="2000">
                <a:latin typeface="Comic Sans MS" panose="030F0702030302020204" pitchFamily="66" charset="0"/>
                <a:ea typeface="楷体" panose="02010609060101010101" pitchFamily="49" charset="-122"/>
              </a:rPr>
              <a:t>ACK/NAK</a:t>
            </a:r>
            <a:r>
              <a:rPr kumimoji="0" lang="en-US" altLang="zh-CN" sz="2000">
                <a:latin typeface="黑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sz="2000">
                <a:latin typeface="黑体" panose="02010609060101010101" pitchFamily="49" charset="-122"/>
                <a:ea typeface="楷体" panose="02010609060101010101" pitchFamily="49" charset="-122"/>
              </a:rPr>
              <a:t>丢失</a:t>
            </a:r>
            <a:r>
              <a:rPr kumimoji="0" lang="en-US" altLang="zh-CN" sz="2000">
                <a:latin typeface="黑体" panose="02010609060101010101" pitchFamily="49" charset="-122"/>
                <a:ea typeface="楷体" panose="02010609060101010101" pitchFamily="49" charset="-122"/>
              </a:rPr>
              <a:t>?</a:t>
            </a:r>
          </a:p>
          <a:p>
            <a:r>
              <a:rPr kumimoji="0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重传</a:t>
            </a:r>
            <a:r>
              <a:rPr kumimoji="0"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但可能导致重传了正确的分组</a:t>
            </a:r>
            <a:r>
              <a:rPr kumimoji="0"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!</a:t>
            </a:r>
            <a:endParaRPr kumimoji="0"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211888" y="1341439"/>
            <a:ext cx="4127500" cy="26193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zh-CN" altLang="en-US" sz="2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管理重复的问题</a:t>
            </a:r>
            <a:r>
              <a:rPr kumimoji="0" lang="en-US" altLang="zh-CN" sz="2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</a:p>
          <a:p>
            <a:pPr>
              <a:lnSpc>
                <a:spcPct val="90000"/>
              </a:lnSpc>
            </a:pPr>
            <a:r>
              <a:rPr kumimoji="0" lang="zh-CN" altLang="en-US" sz="2200">
                <a:latin typeface="黑体" panose="02010609060101010101" pitchFamily="49" charset="-122"/>
                <a:ea typeface="黑体" panose="02010609060101010101" pitchFamily="49" charset="-122"/>
              </a:rPr>
              <a:t>发送方给每个分组加上</a:t>
            </a:r>
            <a:r>
              <a:rPr kumimoji="0" lang="en-US" altLang="zh-CN" sz="2200">
                <a:latin typeface="Comic Sans MS" panose="030F0702030302020204" pitchFamily="66" charset="0"/>
                <a:ea typeface="黑体" panose="02010609060101010101" pitchFamily="49" charset="-122"/>
              </a:rPr>
              <a:t>sequence number</a:t>
            </a:r>
            <a:r>
              <a:rPr kumimoji="0" lang="zh-CN" altLang="en-US" sz="2200">
                <a:latin typeface="Comic Sans MS" panose="030F0702030302020204" pitchFamily="66" charset="0"/>
                <a:ea typeface="黑体" panose="02010609060101010101" pitchFamily="49" charset="-122"/>
              </a:rPr>
              <a:t>（</a:t>
            </a:r>
            <a:r>
              <a:rPr kumimoji="0" lang="zh-CN" altLang="en-US" sz="2200">
                <a:latin typeface="黑体" panose="02010609060101010101" pitchFamily="49" charset="-122"/>
                <a:ea typeface="黑体" panose="02010609060101010101" pitchFamily="49" charset="-122"/>
              </a:rPr>
              <a:t>序号）</a:t>
            </a:r>
          </a:p>
          <a:p>
            <a:pPr>
              <a:lnSpc>
                <a:spcPct val="90000"/>
              </a:lnSpc>
            </a:pPr>
            <a:r>
              <a:rPr kumimoji="0" lang="zh-CN" altLang="en-US" sz="220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kumimoji="0" lang="en-US" altLang="zh-CN" sz="2200">
                <a:latin typeface="Comic Sans MS" panose="030F0702030302020204" pitchFamily="66" charset="0"/>
                <a:ea typeface="黑体" panose="02010609060101010101" pitchFamily="49" charset="-122"/>
              </a:rPr>
              <a:t>ACK/NAK</a:t>
            </a:r>
            <a:r>
              <a:rPr kumimoji="0" lang="zh-CN" altLang="en-US" sz="2200">
                <a:latin typeface="黑体" panose="02010609060101010101" pitchFamily="49" charset="-122"/>
                <a:ea typeface="黑体" panose="02010609060101010101" pitchFamily="49" charset="-122"/>
              </a:rPr>
              <a:t>丢失出错，发送方则重传</a:t>
            </a:r>
            <a:r>
              <a:rPr kumimoji="0" lang="zh-CN" altLang="en-US" sz="2200">
                <a:solidFill>
                  <a:schemeClr val="hlink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当前</a:t>
            </a:r>
            <a:r>
              <a:rPr kumimoji="0" lang="zh-CN" altLang="en-US" sz="220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</a:t>
            </a:r>
          </a:p>
          <a:p>
            <a:pPr>
              <a:lnSpc>
                <a:spcPct val="90000"/>
              </a:lnSpc>
            </a:pPr>
            <a:r>
              <a:rPr kumimoji="0" lang="zh-CN" altLang="en-US" sz="2200">
                <a:latin typeface="黑体" panose="02010609060101010101" pitchFamily="49" charset="-122"/>
                <a:ea typeface="黑体" panose="02010609060101010101" pitchFamily="49" charset="-122"/>
              </a:rPr>
              <a:t>接收方丢弃重复的分组 </a:t>
            </a:r>
            <a:r>
              <a:rPr kumimoji="0" lang="en-US" altLang="zh-CN" sz="220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200">
                <a:latin typeface="黑体" panose="02010609060101010101" pitchFamily="49" charset="-122"/>
                <a:ea typeface="黑体" panose="02010609060101010101" pitchFamily="49" charset="-122"/>
              </a:rPr>
              <a:t>不向上递交</a:t>
            </a:r>
            <a:r>
              <a:rPr kumimoji="0" lang="en-US" altLang="zh-CN" sz="22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6507163" y="5103813"/>
            <a:ext cx="3200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zh-CN" altLang="en-US" sz="2000" b="1">
                <a:latin typeface="Comic Sans MS" panose="030F0702030302020204" pitchFamily="66" charset="0"/>
                <a:ea typeface="黑体" panose="02010609060101010101" pitchFamily="49" charset="-122"/>
              </a:rPr>
              <a:t>发送方法送一个分组，然后等待接收方的响应</a:t>
            </a:r>
            <a:endParaRPr kumimoji="0" lang="en-US" altLang="zh-CN" sz="2000" b="1"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eaLnBrk="0" hangingPunct="0"/>
            <a:r>
              <a:rPr kumimoji="0" lang="zh-CN" altLang="en-US" sz="2000" b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例子代码：</a:t>
            </a:r>
            <a:r>
              <a:rPr kumimoji="0" lang="en-US" altLang="zh-CN" sz="2000" b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CDT 2.1</a:t>
            </a:r>
            <a:endParaRPr kumimoji="0" lang="zh-CN" altLang="en-US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0662" name="Rectangle 6"/>
          <p:cNvSpPr>
            <a:spLocks noChangeArrowheads="1"/>
          </p:cNvSpPr>
          <p:nvPr/>
        </p:nvSpPr>
        <p:spPr bwMode="auto">
          <a:xfrm>
            <a:off x="6369051" y="4772025"/>
            <a:ext cx="3324225" cy="1752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grpSp>
        <p:nvGrpSpPr>
          <p:cNvPr id="70663" name="Group 7"/>
          <p:cNvGrpSpPr>
            <a:grpSpLocks/>
          </p:cNvGrpSpPr>
          <p:nvPr/>
        </p:nvGrpSpPr>
        <p:grpSpPr bwMode="auto">
          <a:xfrm>
            <a:off x="6527801" y="4832350"/>
            <a:ext cx="2232025" cy="400050"/>
            <a:chOff x="0" y="0"/>
            <a:chExt cx="1038" cy="252"/>
          </a:xfrm>
        </p:grpSpPr>
        <p:sp>
          <p:nvSpPr>
            <p:cNvPr id="15367" name="Rectangle 8"/>
            <p:cNvSpPr>
              <a:spLocks noChangeArrowheads="1"/>
            </p:cNvSpPr>
            <p:nvPr/>
          </p:nvSpPr>
          <p:spPr bwMode="auto">
            <a:xfrm>
              <a:off x="0" y="56"/>
              <a:ext cx="1038" cy="1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68" name="Text Box 9"/>
            <p:cNvSpPr txBox="1">
              <a:spLocks noChangeArrowheads="1"/>
            </p:cNvSpPr>
            <p:nvPr/>
          </p:nvSpPr>
          <p:spPr bwMode="auto">
            <a:xfrm>
              <a:off x="140" y="0"/>
              <a:ext cx="7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0" lang="zh-CN" altLang="en-US" sz="2000" b="1">
                  <a:solidFill>
                    <a:srgbClr val="FF0000"/>
                  </a:solidFill>
                  <a:latin typeface="Comic Sans MS" panose="030F0702030302020204" pitchFamily="66" charset="0"/>
                  <a:ea typeface="黑体" panose="02010609060101010101" pitchFamily="49" charset="-122"/>
                </a:rPr>
                <a:t>停等策略</a:t>
              </a:r>
              <a:endParaRPr kumimoji="0" lang="zh-CN" altLang="en-US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86552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 autoUpdateAnimBg="0"/>
      <p:bldP spid="70660" grpId="0" build="p" autoUpdateAnimBg="0"/>
      <p:bldP spid="70661" grpId="0" autoUpdateAnimBg="0"/>
      <p:bldP spid="70662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62200" y="238125"/>
            <a:ext cx="8305800" cy="527050"/>
          </a:xfrm>
        </p:spPr>
        <p:txBody>
          <a:bodyPr>
            <a:normAutofit fontScale="90000"/>
          </a:bodyPr>
          <a:lstStyle/>
          <a:p>
            <a:r>
              <a:rPr kumimoji="0"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RDT2.1</a:t>
            </a:r>
            <a:r>
              <a:rPr kumimoji="0"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0"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管理出错的</a:t>
            </a:r>
            <a:r>
              <a:rPr kumimoji="0" lang="en-US" altLang="zh-CN" sz="3200">
                <a:latin typeface="Comic Sans MS" panose="030F0702030302020204" pitchFamily="66" charset="0"/>
                <a:ea typeface="黑体" panose="02010609060101010101" pitchFamily="49" charset="-122"/>
              </a:rPr>
              <a:t>ACK/NAK</a:t>
            </a:r>
            <a:r>
              <a:rPr kumimoji="0" lang="zh-CN" altLang="en-US" sz="3200">
                <a:latin typeface="Comic Sans MS" panose="030F0702030302020204" pitchFamily="66" charset="0"/>
                <a:ea typeface="黑体" panose="02010609060101010101" pitchFamily="49" charset="-122"/>
              </a:rPr>
              <a:t>，发送方</a:t>
            </a:r>
          </a:p>
        </p:txBody>
      </p:sp>
      <p:pic>
        <p:nvPicPr>
          <p:cNvPr id="16386" name="Picture 3" descr="rdt21_sender_v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50" y="1271588"/>
            <a:ext cx="7943850" cy="513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870451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24125" y="228600"/>
            <a:ext cx="8324850" cy="679450"/>
          </a:xfrm>
        </p:spPr>
        <p:txBody>
          <a:bodyPr/>
          <a:lstStyle/>
          <a:p>
            <a:r>
              <a:rPr kumimoji="0" lang="en-US" altLang="zh-CN" sz="3600">
                <a:latin typeface="Arial" panose="020B0604020202020204" pitchFamily="34" charset="0"/>
                <a:ea typeface="黑体" panose="02010609060101010101" pitchFamily="49" charset="-122"/>
              </a:rPr>
              <a:t>RDT2.1</a:t>
            </a:r>
            <a:r>
              <a:rPr kumimoji="0" lang="en-US" altLang="zh-CN" sz="360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0"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管理出错的</a:t>
            </a:r>
            <a:r>
              <a:rPr kumimoji="0" lang="en-US" altLang="zh-CN" sz="3600">
                <a:latin typeface="Comic Sans MS" panose="030F0702030302020204" pitchFamily="66" charset="0"/>
                <a:ea typeface="黑体" panose="02010609060101010101" pitchFamily="49" charset="-122"/>
              </a:rPr>
              <a:t>ACK/NAK</a:t>
            </a:r>
            <a:r>
              <a:rPr kumimoji="0" lang="zh-CN" altLang="en-US" sz="3600">
                <a:latin typeface="Comic Sans MS" panose="030F0702030302020204" pitchFamily="66" charset="0"/>
                <a:ea typeface="黑体" panose="02010609060101010101" pitchFamily="49" charset="-122"/>
              </a:rPr>
              <a:t>，接收方</a:t>
            </a:r>
          </a:p>
        </p:txBody>
      </p:sp>
      <p:pic>
        <p:nvPicPr>
          <p:cNvPr id="17410" name="Picture 3" descr="rdt21_receiver_v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1419225"/>
            <a:ext cx="8547100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05829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kumimoji="0"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RDT2.2</a:t>
            </a:r>
            <a:endParaRPr kumimoji="0"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kumimoji="0"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kumimoji="0"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RDT2.1</a:t>
            </a:r>
            <a:r>
              <a:rPr kumimoji="0"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的功能相同，但仅使用</a:t>
            </a:r>
            <a:r>
              <a:rPr kumimoji="0"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ACK</a:t>
            </a:r>
          </a:p>
          <a:p>
            <a:pPr lvl="1"/>
            <a:r>
              <a:rPr kumimoji="0" lang="zh-CN" altLang="en-US">
                <a:latin typeface="Comic Sans MS" panose="030F0702030302020204" pitchFamily="66" charset="0"/>
                <a:ea typeface="楷体" panose="02010609060101010101" pitchFamily="49" charset="-122"/>
              </a:rPr>
              <a:t>接收方正确接收一个包后，发送</a:t>
            </a:r>
            <a:r>
              <a:rPr kumimoji="0" lang="en-US" altLang="zh-CN">
                <a:latin typeface="Comic Sans MS" panose="030F0702030302020204" pitchFamily="66" charset="0"/>
                <a:ea typeface="楷体" panose="02010609060101010101" pitchFamily="49" charset="-122"/>
              </a:rPr>
              <a:t>ACK</a:t>
            </a:r>
          </a:p>
          <a:p>
            <a:pPr lvl="1"/>
            <a:r>
              <a:rPr kumimoji="0" lang="zh-CN" altLang="en-US">
                <a:latin typeface="Comic Sans MS" panose="030F0702030302020204" pitchFamily="66" charset="0"/>
                <a:ea typeface="楷体" panose="02010609060101010101" pitchFamily="49" charset="-122"/>
              </a:rPr>
              <a:t>在</a:t>
            </a:r>
            <a:r>
              <a:rPr kumimoji="0" lang="en-US" altLang="zh-CN">
                <a:latin typeface="Comic Sans MS" panose="030F0702030302020204" pitchFamily="66" charset="0"/>
                <a:ea typeface="楷体" panose="02010609060101010101" pitchFamily="49" charset="-122"/>
              </a:rPr>
              <a:t>ACK</a:t>
            </a:r>
            <a:r>
              <a:rPr kumimoji="0" lang="zh-CN" altLang="en-US">
                <a:latin typeface="Comic Sans MS" panose="030F0702030302020204" pitchFamily="66" charset="0"/>
                <a:ea typeface="楷体" panose="02010609060101010101" pitchFamily="49" charset="-122"/>
              </a:rPr>
              <a:t>包中，接收方必须通过序号指明是对哪个数据包的确认</a:t>
            </a:r>
            <a:r>
              <a:rPr kumimoji="0" lang="zh-CN" altLang="en-US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</a:p>
          <a:p>
            <a:r>
              <a:rPr kumimoji="0"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重复的</a:t>
            </a:r>
            <a:r>
              <a:rPr kumimoji="0"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ACK</a:t>
            </a:r>
            <a:r>
              <a:rPr kumimoji="0"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包对发送方来说，和收到</a:t>
            </a:r>
            <a:r>
              <a:rPr kumimoji="0"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NACK</a:t>
            </a:r>
            <a:r>
              <a:rPr kumimoji="0"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的效果一样</a:t>
            </a:r>
          </a:p>
          <a:p>
            <a:pPr lvl="1"/>
            <a:r>
              <a:rPr kumimoji="0" lang="zh-CN" altLang="en-US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0" lang="zh-CN" altLang="en-US">
                <a:latin typeface="Comic Sans MS" panose="030F0702030302020204" pitchFamily="66" charset="0"/>
                <a:ea typeface="楷体" panose="02010609060101010101" pitchFamily="49" charset="-122"/>
              </a:rPr>
              <a:t>重发当前数据包</a:t>
            </a:r>
          </a:p>
        </p:txBody>
      </p:sp>
    </p:spTree>
    <p:extLst>
      <p:ext uri="{BB962C8B-B14F-4D97-AF65-F5344CB8AC3E}">
        <p14:creationId xmlns:p14="http://schemas.microsoft.com/office/powerpoint/2010/main" val="85416545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Group 2"/>
          <p:cNvGrpSpPr>
            <a:grpSpLocks/>
          </p:cNvGrpSpPr>
          <p:nvPr/>
        </p:nvGrpSpPr>
        <p:grpSpPr bwMode="auto">
          <a:xfrm>
            <a:off x="4144964" y="2220913"/>
            <a:ext cx="1062037" cy="838200"/>
            <a:chOff x="0" y="0"/>
            <a:chExt cx="669" cy="528"/>
          </a:xfrm>
        </p:grpSpPr>
        <p:sp>
          <p:nvSpPr>
            <p:cNvPr id="19490" name="Oval 4"/>
            <p:cNvSpPr>
              <a:spLocks noChangeArrowheads="1"/>
            </p:cNvSpPr>
            <p:nvPr/>
          </p:nvSpPr>
          <p:spPr bwMode="auto">
            <a:xfrm>
              <a:off x="42" y="0"/>
              <a:ext cx="578" cy="52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9491" name="Text Box 5"/>
            <p:cNvSpPr txBox="1">
              <a:spLocks noChangeArrowheads="1"/>
            </p:cNvSpPr>
            <p:nvPr/>
          </p:nvSpPr>
          <p:spPr bwMode="auto">
            <a:xfrm>
              <a:off x="0" y="48"/>
              <a:ext cx="66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0" lang="en-US" altLang="zh-CN" sz="1400">
                  <a:latin typeface="Arial" panose="020B0604020202020204" pitchFamily="34" charset="0"/>
                </a:rPr>
                <a:t>Wait for call 0 from above</a:t>
              </a:r>
              <a:endParaRPr kumimoji="0" lang="en-US" altLang="zh-CN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19458" name="Text Box 6"/>
          <p:cNvSpPr txBox="1">
            <a:spLocks noChangeArrowheads="1"/>
          </p:cNvSpPr>
          <p:nvPr/>
        </p:nvSpPr>
        <p:spPr bwMode="auto">
          <a:xfrm>
            <a:off x="4481514" y="1519238"/>
            <a:ext cx="37226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sndpkt = make_pkt(0, data, checksum)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udt_send(sndpkt)</a:t>
            </a:r>
            <a:endParaRPr kumimoji="0"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19459" name="Text Box 7"/>
          <p:cNvSpPr txBox="1">
            <a:spLocks noChangeArrowheads="1"/>
          </p:cNvSpPr>
          <p:nvPr/>
        </p:nvSpPr>
        <p:spPr bwMode="auto">
          <a:xfrm>
            <a:off x="4494214" y="1238250"/>
            <a:ext cx="17240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rdt_send(data)</a:t>
            </a:r>
            <a:endParaRPr kumimoji="0"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19460" name="Line 8"/>
          <p:cNvSpPr>
            <a:spLocks noChangeShapeType="1"/>
          </p:cNvSpPr>
          <p:nvPr/>
        </p:nvSpPr>
        <p:spPr bwMode="auto">
          <a:xfrm>
            <a:off x="4556126" y="1574800"/>
            <a:ext cx="35528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1" name="Line 9"/>
          <p:cNvSpPr>
            <a:spLocks noChangeShapeType="1"/>
          </p:cNvSpPr>
          <p:nvPr/>
        </p:nvSpPr>
        <p:spPr bwMode="auto">
          <a:xfrm>
            <a:off x="3951288" y="2084389"/>
            <a:ext cx="419100" cy="230187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2" name="Freeform 10"/>
          <p:cNvSpPr>
            <a:spLocks/>
          </p:cNvSpPr>
          <p:nvPr/>
        </p:nvSpPr>
        <p:spPr bwMode="auto">
          <a:xfrm flipV="1">
            <a:off x="4851401" y="2019301"/>
            <a:ext cx="1897063" cy="206375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3" name="Freeform 11"/>
          <p:cNvSpPr>
            <a:spLocks/>
          </p:cNvSpPr>
          <p:nvPr/>
        </p:nvSpPr>
        <p:spPr bwMode="auto">
          <a:xfrm rot="-1357180">
            <a:off x="7326314" y="1944689"/>
            <a:ext cx="452437" cy="860425"/>
          </a:xfrm>
          <a:custGeom>
            <a:avLst/>
            <a:gdLst>
              <a:gd name="T0" fmla="*/ 0 w 735"/>
              <a:gd name="T1" fmla="*/ 2147483647 h 1080"/>
              <a:gd name="T2" fmla="*/ 0 w 735"/>
              <a:gd name="T3" fmla="*/ 2147483647 h 108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4" name="Text Box 12"/>
          <p:cNvSpPr txBox="1">
            <a:spLocks noChangeArrowheads="1"/>
          </p:cNvSpPr>
          <p:nvPr/>
        </p:nvSpPr>
        <p:spPr bwMode="auto">
          <a:xfrm>
            <a:off x="7839076" y="2651125"/>
            <a:ext cx="2124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 b="1">
                <a:solidFill>
                  <a:srgbClr val="FF0000"/>
                </a:solidFill>
                <a:latin typeface="Arial" panose="020B0604020202020204" pitchFamily="34" charset="0"/>
              </a:rPr>
              <a:t>udt_send(sndpkt)</a:t>
            </a:r>
            <a:endParaRPr kumimoji="0" lang="en-US" altLang="zh-CN" sz="1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5" name="Text Box 13"/>
          <p:cNvSpPr txBox="1">
            <a:spLocks noChangeArrowheads="1"/>
          </p:cNvSpPr>
          <p:nvPr/>
        </p:nvSpPr>
        <p:spPr bwMode="auto">
          <a:xfrm>
            <a:off x="7742238" y="1863725"/>
            <a:ext cx="27178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rdt_rcv(rcvpkt) &amp;&amp;  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( corrupt(rcvpkt) ||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  </a:t>
            </a:r>
            <a:r>
              <a:rPr kumimoji="0" lang="en-US" altLang="zh-CN" sz="1600" b="1">
                <a:solidFill>
                  <a:srgbClr val="FF0000"/>
                </a:solidFill>
                <a:latin typeface="Arial" panose="020B0604020202020204" pitchFamily="34" charset="0"/>
              </a:rPr>
              <a:t>isACK(rcvpkt,1)</a:t>
            </a:r>
            <a:r>
              <a:rPr kumimoji="0" lang="en-US" altLang="zh-CN" sz="1600">
                <a:latin typeface="Arial" panose="020B0604020202020204" pitchFamily="34" charset="0"/>
              </a:rPr>
              <a:t> )</a:t>
            </a:r>
            <a:endParaRPr kumimoji="0"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19466" name="Line 14"/>
          <p:cNvSpPr>
            <a:spLocks noChangeShapeType="1"/>
          </p:cNvSpPr>
          <p:nvPr/>
        </p:nvSpPr>
        <p:spPr bwMode="auto">
          <a:xfrm flipV="1">
            <a:off x="7942263" y="2644775"/>
            <a:ext cx="14208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Freeform 15"/>
          <p:cNvSpPr>
            <a:spLocks/>
          </p:cNvSpPr>
          <p:nvPr/>
        </p:nvSpPr>
        <p:spPr bwMode="auto">
          <a:xfrm>
            <a:off x="7472363" y="2844801"/>
            <a:ext cx="203200" cy="1228725"/>
          </a:xfrm>
          <a:custGeom>
            <a:avLst/>
            <a:gdLst>
              <a:gd name="T0" fmla="*/ 2147483647 w 128"/>
              <a:gd name="T1" fmla="*/ 2147483647 h 774"/>
              <a:gd name="T2" fmla="*/ 0 w 128"/>
              <a:gd name="T3" fmla="*/ 0 h 77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28" h="774">
                <a:moveTo>
                  <a:pt x="67" y="774"/>
                </a:moveTo>
                <a:cubicBezTo>
                  <a:pt x="128" y="425"/>
                  <a:pt x="81" y="0"/>
                  <a:pt x="0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Text Box 16"/>
          <p:cNvSpPr txBox="1">
            <a:spLocks noChangeArrowheads="1"/>
          </p:cNvSpPr>
          <p:nvPr/>
        </p:nvSpPr>
        <p:spPr bwMode="auto">
          <a:xfrm>
            <a:off x="7616825" y="3255963"/>
            <a:ext cx="2413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rdt_rcv(rcvpkt)   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&amp;&amp; notcorrupt(rcvpkt) 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&amp;&amp; </a:t>
            </a:r>
            <a:r>
              <a:rPr kumimoji="0" lang="en-US" altLang="zh-CN" sz="1600" b="1">
                <a:solidFill>
                  <a:srgbClr val="FF0000"/>
                </a:solidFill>
                <a:latin typeface="Arial" panose="020B0604020202020204" pitchFamily="34" charset="0"/>
              </a:rPr>
              <a:t>isACK(rcvpkt,0)</a:t>
            </a:r>
            <a:r>
              <a:rPr kumimoji="0" lang="en-US" altLang="zh-CN" sz="1000">
                <a:latin typeface="Arial" panose="020B0604020202020204" pitchFamily="34" charset="0"/>
              </a:rPr>
              <a:t> </a:t>
            </a:r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19469" name="Line 17"/>
          <p:cNvSpPr>
            <a:spLocks noChangeShapeType="1"/>
          </p:cNvSpPr>
          <p:nvPr/>
        </p:nvSpPr>
        <p:spPr bwMode="auto">
          <a:xfrm>
            <a:off x="7705726" y="4079875"/>
            <a:ext cx="18637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470" name="Group 17"/>
          <p:cNvGrpSpPr>
            <a:grpSpLocks/>
          </p:cNvGrpSpPr>
          <p:nvPr/>
        </p:nvGrpSpPr>
        <p:grpSpPr bwMode="auto">
          <a:xfrm>
            <a:off x="6500814" y="2166938"/>
            <a:ext cx="1062037" cy="838200"/>
            <a:chOff x="0" y="0"/>
            <a:chExt cx="669" cy="528"/>
          </a:xfrm>
        </p:grpSpPr>
        <p:sp>
          <p:nvSpPr>
            <p:cNvPr id="19488" name="Oval 19"/>
            <p:cNvSpPr>
              <a:spLocks noChangeArrowheads="1"/>
            </p:cNvSpPr>
            <p:nvPr/>
          </p:nvSpPr>
          <p:spPr bwMode="auto">
            <a:xfrm>
              <a:off x="42" y="0"/>
              <a:ext cx="578" cy="52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9489" name="Text Box 20"/>
            <p:cNvSpPr txBox="1">
              <a:spLocks noChangeArrowheads="1"/>
            </p:cNvSpPr>
            <p:nvPr/>
          </p:nvSpPr>
          <p:spPr bwMode="auto">
            <a:xfrm>
              <a:off x="0" y="48"/>
              <a:ext cx="66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0" lang="en-US" altLang="zh-CN" sz="1400">
                  <a:latin typeface="Arial" panose="020B0604020202020204" pitchFamily="34" charset="0"/>
                </a:rPr>
                <a:t>Wait for ACK</a:t>
              </a:r>
            </a:p>
            <a:p>
              <a:pPr algn="ctr" eaLnBrk="0" hangingPunct="0"/>
              <a:r>
                <a:rPr kumimoji="0" lang="en-US" altLang="zh-CN" sz="1400">
                  <a:latin typeface="Arial" panose="020B0604020202020204" pitchFamily="34" charset="0"/>
                </a:rPr>
                <a:t>0</a:t>
              </a:r>
              <a:endParaRPr kumimoji="0" lang="en-US" altLang="zh-CN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19471" name="Text Box 21"/>
          <p:cNvSpPr txBox="1">
            <a:spLocks noChangeArrowheads="1"/>
          </p:cNvSpPr>
          <p:nvPr/>
        </p:nvSpPr>
        <p:spPr bwMode="auto">
          <a:xfrm>
            <a:off x="5189539" y="2884489"/>
            <a:ext cx="16589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0" lang="en-US" altLang="zh-CN" sz="2000" b="1">
                <a:solidFill>
                  <a:schemeClr val="tx2"/>
                </a:solidFill>
                <a:latin typeface="Comic Sans MS" panose="030F0702030302020204" pitchFamily="66" charset="0"/>
              </a:rPr>
              <a:t>sender FSM</a:t>
            </a:r>
          </a:p>
          <a:p>
            <a:pPr algn="ctr" eaLnBrk="0" hangingPunct="0"/>
            <a:r>
              <a:rPr kumimoji="0" lang="en-US" altLang="zh-CN" sz="2000" b="1">
                <a:solidFill>
                  <a:schemeClr val="tx2"/>
                </a:solidFill>
                <a:latin typeface="Comic Sans MS" panose="030F0702030302020204" pitchFamily="66" charset="0"/>
              </a:rPr>
              <a:t>fragment</a:t>
            </a:r>
          </a:p>
        </p:txBody>
      </p:sp>
      <p:grpSp>
        <p:nvGrpSpPr>
          <p:cNvPr id="19472" name="Group 21"/>
          <p:cNvGrpSpPr>
            <a:grpSpLocks/>
          </p:cNvGrpSpPr>
          <p:nvPr/>
        </p:nvGrpSpPr>
        <p:grpSpPr bwMode="auto">
          <a:xfrm>
            <a:off x="3951289" y="4265614"/>
            <a:ext cx="847725" cy="795337"/>
            <a:chOff x="0" y="0"/>
            <a:chExt cx="534" cy="501"/>
          </a:xfrm>
        </p:grpSpPr>
        <p:sp>
          <p:nvSpPr>
            <p:cNvPr id="19486" name="Oval 23"/>
            <p:cNvSpPr>
              <a:spLocks noChangeArrowheads="1"/>
            </p:cNvSpPr>
            <p:nvPr/>
          </p:nvSpPr>
          <p:spPr bwMode="auto">
            <a:xfrm>
              <a:off x="0" y="0"/>
              <a:ext cx="534" cy="501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9487" name="Text Box 24"/>
            <p:cNvSpPr txBox="1">
              <a:spLocks noChangeArrowheads="1"/>
            </p:cNvSpPr>
            <p:nvPr/>
          </p:nvSpPr>
          <p:spPr bwMode="auto">
            <a:xfrm>
              <a:off x="27" y="22"/>
              <a:ext cx="50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0" lang="en-US" altLang="zh-CN" sz="1400">
                  <a:latin typeface="Arial" panose="020B0604020202020204" pitchFamily="34" charset="0"/>
                </a:rPr>
                <a:t>Wait for </a:t>
              </a:r>
            </a:p>
            <a:p>
              <a:pPr algn="ctr" eaLnBrk="0" hangingPunct="0"/>
              <a:r>
                <a:rPr kumimoji="0" lang="en-US" altLang="zh-CN" sz="1400">
                  <a:latin typeface="Arial" panose="020B0604020202020204" pitchFamily="34" charset="0"/>
                </a:rPr>
                <a:t>0 from below</a:t>
              </a:r>
              <a:endParaRPr kumimoji="0" lang="en-US" altLang="zh-CN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19473" name="Freeform 25"/>
          <p:cNvSpPr>
            <a:spLocks/>
          </p:cNvSpPr>
          <p:nvPr/>
        </p:nvSpPr>
        <p:spPr bwMode="auto">
          <a:xfrm>
            <a:off x="4579938" y="4156075"/>
            <a:ext cx="825500" cy="185738"/>
          </a:xfrm>
          <a:custGeom>
            <a:avLst/>
            <a:gdLst>
              <a:gd name="T0" fmla="*/ 0 w 520"/>
              <a:gd name="T1" fmla="*/ 2147483647 h 117"/>
              <a:gd name="T2" fmla="*/ 2147483647 w 520"/>
              <a:gd name="T3" fmla="*/ 2147483647 h 11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20" h="117">
                <a:moveTo>
                  <a:pt x="0" y="117"/>
                </a:moveTo>
                <a:cubicBezTo>
                  <a:pt x="136" y="17"/>
                  <a:pt x="276" y="0"/>
                  <a:pt x="520" y="17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4" name="Freeform 26"/>
          <p:cNvSpPr>
            <a:spLocks/>
          </p:cNvSpPr>
          <p:nvPr/>
        </p:nvSpPr>
        <p:spPr bwMode="auto">
          <a:xfrm>
            <a:off x="4692651" y="4960939"/>
            <a:ext cx="2403475" cy="206375"/>
          </a:xfrm>
          <a:custGeom>
            <a:avLst/>
            <a:gdLst>
              <a:gd name="T0" fmla="*/ 0 w 1514"/>
              <a:gd name="T1" fmla="*/ 0 h 130"/>
              <a:gd name="T2" fmla="*/ 2147483647 w 1514"/>
              <a:gd name="T3" fmla="*/ 2147483647 h 13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14" h="130">
                <a:moveTo>
                  <a:pt x="0" y="0"/>
                </a:moveTo>
                <a:cubicBezTo>
                  <a:pt x="266" y="130"/>
                  <a:pt x="1322" y="113"/>
                  <a:pt x="1514" y="17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5" name="Text Box 27"/>
          <p:cNvSpPr txBox="1">
            <a:spLocks noChangeArrowheads="1"/>
          </p:cNvSpPr>
          <p:nvPr/>
        </p:nvSpPr>
        <p:spPr bwMode="auto">
          <a:xfrm>
            <a:off x="4459289" y="5106988"/>
            <a:ext cx="39401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rdt_rcv(rcvpkt) &amp;&amp; notcorrupt(rcvpkt) 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  &amp;&amp; has_seq1(rcvpkt) </a:t>
            </a:r>
            <a:endParaRPr kumimoji="0"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19476" name="Line 28"/>
          <p:cNvSpPr>
            <a:spLocks noChangeShapeType="1"/>
          </p:cNvSpPr>
          <p:nvPr/>
        </p:nvSpPr>
        <p:spPr bwMode="auto">
          <a:xfrm>
            <a:off x="4570414" y="5678488"/>
            <a:ext cx="19145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7" name="Text Box 29"/>
          <p:cNvSpPr txBox="1">
            <a:spLocks noChangeArrowheads="1"/>
          </p:cNvSpPr>
          <p:nvPr/>
        </p:nvSpPr>
        <p:spPr bwMode="auto">
          <a:xfrm>
            <a:off x="4427539" y="5664201"/>
            <a:ext cx="41751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extract(rcvpkt,data)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deliver_data(data)</a:t>
            </a:r>
          </a:p>
          <a:p>
            <a:pPr eaLnBrk="0" hangingPunct="0"/>
            <a:r>
              <a:rPr kumimoji="0" lang="en-US" altLang="zh-CN" sz="1600" b="1">
                <a:solidFill>
                  <a:srgbClr val="FF0000"/>
                </a:solidFill>
                <a:latin typeface="Arial" panose="020B0604020202020204" pitchFamily="34" charset="0"/>
              </a:rPr>
              <a:t>sndpkt = make_pkt(ACK1, chksum)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udt_send(sndpkt)</a:t>
            </a:r>
            <a:endParaRPr kumimoji="0"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19478" name="Freeform 30"/>
          <p:cNvSpPr>
            <a:spLocks/>
          </p:cNvSpPr>
          <p:nvPr/>
        </p:nvSpPr>
        <p:spPr bwMode="auto">
          <a:xfrm flipH="1">
            <a:off x="3487739" y="3917950"/>
            <a:ext cx="490537" cy="1358900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9" name="Line 31"/>
          <p:cNvSpPr>
            <a:spLocks noChangeShapeType="1"/>
          </p:cNvSpPr>
          <p:nvPr/>
        </p:nvSpPr>
        <p:spPr bwMode="auto">
          <a:xfrm>
            <a:off x="1614488" y="4660900"/>
            <a:ext cx="19240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0" name="Text Box 32"/>
          <p:cNvSpPr txBox="1">
            <a:spLocks noChangeArrowheads="1"/>
          </p:cNvSpPr>
          <p:nvPr/>
        </p:nvSpPr>
        <p:spPr bwMode="auto">
          <a:xfrm>
            <a:off x="1533526" y="3824289"/>
            <a:ext cx="236061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rdt_rcv(rcvpkt) &amp;&amp; 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   (corrupt(rcvpkt) ||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     </a:t>
            </a:r>
            <a:r>
              <a:rPr kumimoji="0" lang="en-US" altLang="zh-CN" sz="1600" b="1">
                <a:solidFill>
                  <a:srgbClr val="FF0000"/>
                </a:solidFill>
                <a:latin typeface="Arial" panose="020B0604020202020204" pitchFamily="34" charset="0"/>
              </a:rPr>
              <a:t>has_seq1(rcvpkt))</a:t>
            </a:r>
            <a:endParaRPr kumimoji="0" lang="en-US" altLang="zh-CN" sz="1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81" name="Text Box 33"/>
          <p:cNvSpPr txBox="1">
            <a:spLocks noChangeArrowheads="1"/>
          </p:cNvSpPr>
          <p:nvPr/>
        </p:nvSpPr>
        <p:spPr bwMode="auto">
          <a:xfrm>
            <a:off x="1524000" y="4689476"/>
            <a:ext cx="20383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 b="1">
                <a:solidFill>
                  <a:srgbClr val="FF0000"/>
                </a:solidFill>
                <a:latin typeface="Arial" panose="020B0604020202020204" pitchFamily="34" charset="0"/>
              </a:rPr>
              <a:t>udt_send(sndpkt)</a:t>
            </a:r>
            <a:endParaRPr kumimoji="0" lang="en-US" altLang="zh-CN" sz="1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82" name="Text Box 34"/>
          <p:cNvSpPr txBox="1">
            <a:spLocks noChangeArrowheads="1"/>
          </p:cNvSpPr>
          <p:nvPr/>
        </p:nvSpPr>
        <p:spPr bwMode="auto">
          <a:xfrm>
            <a:off x="4851400" y="4311651"/>
            <a:ext cx="18415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0" lang="en-US" altLang="zh-CN" sz="2000" b="1">
                <a:solidFill>
                  <a:schemeClr val="tx2"/>
                </a:solidFill>
                <a:latin typeface="Comic Sans MS" panose="030F0702030302020204" pitchFamily="66" charset="0"/>
              </a:rPr>
              <a:t>receiver FSM</a:t>
            </a:r>
          </a:p>
          <a:p>
            <a:pPr algn="ctr" eaLnBrk="0" hangingPunct="0"/>
            <a:r>
              <a:rPr kumimoji="0" lang="en-US" altLang="zh-CN" sz="2000" b="1">
                <a:solidFill>
                  <a:schemeClr val="tx2"/>
                </a:solidFill>
                <a:latin typeface="Comic Sans MS" panose="030F0702030302020204" pitchFamily="66" charset="0"/>
              </a:rPr>
              <a:t>fragment</a:t>
            </a:r>
          </a:p>
        </p:txBody>
      </p:sp>
      <p:sp>
        <p:nvSpPr>
          <p:cNvPr id="19483" name="Line 35"/>
          <p:cNvSpPr>
            <a:spLocks noChangeShapeType="1"/>
          </p:cNvSpPr>
          <p:nvPr/>
        </p:nvSpPr>
        <p:spPr bwMode="auto">
          <a:xfrm>
            <a:off x="2189164" y="2603500"/>
            <a:ext cx="7883525" cy="275748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4" name="Text Box 36"/>
          <p:cNvSpPr txBox="1">
            <a:spLocks noChangeArrowheads="1"/>
          </p:cNvSpPr>
          <p:nvPr/>
        </p:nvSpPr>
        <p:spPr bwMode="auto">
          <a:xfrm>
            <a:off x="8378826" y="4103688"/>
            <a:ext cx="379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0" lang="en-US" altLang="zh-CN" sz="1600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19485" name="Rectangle 38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kumimoji="0"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RDT2.2: </a:t>
            </a:r>
            <a:r>
              <a:rPr kumimoji="0"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无 </a:t>
            </a:r>
            <a:r>
              <a:rPr kumimoji="0"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NAK</a:t>
            </a:r>
            <a:r>
              <a:rPr kumimoji="0"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的协议</a:t>
            </a:r>
          </a:p>
        </p:txBody>
      </p:sp>
    </p:spTree>
    <p:extLst>
      <p:ext uri="{BB962C8B-B14F-4D97-AF65-F5344CB8AC3E}">
        <p14:creationId xmlns:p14="http://schemas.microsoft.com/office/powerpoint/2010/main" val="309418140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03388" y="260351"/>
            <a:ext cx="8964612" cy="576263"/>
          </a:xfrm>
        </p:spPr>
        <p:txBody>
          <a:bodyPr/>
          <a:lstStyle/>
          <a:p>
            <a:r>
              <a:rPr kumimoji="0" lang="en-US" altLang="zh-CN" sz="3200">
                <a:latin typeface="Arial" panose="020B0604020202020204" pitchFamily="34" charset="0"/>
              </a:rPr>
              <a:t>RDT3.0: </a:t>
            </a:r>
            <a:r>
              <a:rPr kumimoji="0" lang="zh-CN" altLang="en-US" sz="3200">
                <a:latin typeface="Arial" panose="020B0604020202020204" pitchFamily="34" charset="0"/>
                <a:ea typeface="黑体" panose="02010609060101010101" pitchFamily="49" charset="-122"/>
              </a:rPr>
              <a:t>通道上可能出错和</a:t>
            </a:r>
            <a:r>
              <a:rPr kumimoji="0" lang="zh-CN" altLang="en-US" sz="32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丢失数据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19288" y="1341439"/>
            <a:ext cx="4127500" cy="4751387"/>
          </a:xfrm>
        </p:spPr>
        <p:txBody>
          <a:bodyPr/>
          <a:lstStyle/>
          <a:p>
            <a:r>
              <a:rPr kumimoji="0" lang="zh-CN" altLang="en-US" sz="2800">
                <a:solidFill>
                  <a:schemeClr val="hlink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新的假设</a:t>
            </a:r>
            <a:r>
              <a:rPr kumimoji="0" lang="en-US" altLang="zh-CN" sz="2800">
                <a:latin typeface="Comic Sans MS" panose="030F0702030302020204" pitchFamily="66" charset="0"/>
                <a:ea typeface="黑体" panose="02010609060101010101" pitchFamily="49" charset="-122"/>
              </a:rPr>
              <a:t>: </a:t>
            </a:r>
            <a:r>
              <a:rPr kumimoji="0" lang="zh-CN" altLang="en-US" sz="2800">
                <a:latin typeface="Comic Sans MS" panose="030F0702030302020204" pitchFamily="66" charset="0"/>
                <a:ea typeface="黑体" panose="02010609060101010101" pitchFamily="49" charset="-122"/>
              </a:rPr>
              <a:t>底层信道可能丢包</a:t>
            </a:r>
            <a:r>
              <a:rPr kumimoji="0" lang="en-US" altLang="zh-CN" sz="2800">
                <a:latin typeface="Comic Sans MS" panose="030F0702030302020204" pitchFamily="66" charset="0"/>
                <a:ea typeface="黑体" panose="02010609060101010101" pitchFamily="49" charset="-122"/>
              </a:rPr>
              <a:t>(</a:t>
            </a:r>
            <a:r>
              <a:rPr kumimoji="0" lang="zh-CN" altLang="en-US" sz="2800">
                <a:latin typeface="Comic Sans MS" panose="030F0702030302020204" pitchFamily="66" charset="0"/>
                <a:ea typeface="黑体" panose="02010609060101010101" pitchFamily="49" charset="-122"/>
              </a:rPr>
              <a:t>数据或</a:t>
            </a:r>
            <a:r>
              <a:rPr kumimoji="0" lang="en-US" altLang="zh-CN" sz="2800">
                <a:latin typeface="Comic Sans MS" panose="030F0702030302020204" pitchFamily="66" charset="0"/>
                <a:ea typeface="黑体" panose="02010609060101010101" pitchFamily="49" charset="-122"/>
              </a:rPr>
              <a:t>ACK)</a:t>
            </a:r>
          </a:p>
          <a:p>
            <a:pPr lvl="1"/>
            <a:r>
              <a:rPr kumimoji="0" lang="en-US" altLang="zh-CN" sz="2400">
                <a:latin typeface="Comic Sans MS" panose="030F0702030302020204" pitchFamily="66" charset="0"/>
                <a:ea typeface="楷体" panose="02010609060101010101" pitchFamily="49" charset="-122"/>
              </a:rPr>
              <a:t>checksum, seq. #, ACK, </a:t>
            </a:r>
            <a:r>
              <a:rPr kumimoji="0" lang="zh-CN" altLang="en-US" sz="2400">
                <a:latin typeface="Comic Sans MS" panose="030F0702030302020204" pitchFamily="66" charset="0"/>
                <a:ea typeface="楷体" panose="02010609060101010101" pitchFamily="49" charset="-122"/>
              </a:rPr>
              <a:t>重发机制会有帮助</a:t>
            </a:r>
          </a:p>
          <a:p>
            <a:r>
              <a:rPr kumimoji="0" lang="zh-CN" altLang="en-US" sz="2800">
                <a:latin typeface="Comic Sans MS" panose="030F0702030302020204" pitchFamily="66" charset="0"/>
                <a:ea typeface="黑体" panose="02010609060101010101" pitchFamily="49" charset="-122"/>
              </a:rPr>
              <a:t>如何处理数据丢失</a:t>
            </a:r>
            <a:r>
              <a:rPr kumimoji="0" lang="en-US" altLang="zh-CN" sz="2800">
                <a:latin typeface="Comic Sans MS" panose="030F0702030302020204" pitchFamily="66" charset="0"/>
                <a:ea typeface="黑体" panose="02010609060101010101" pitchFamily="49" charset="-122"/>
              </a:rPr>
              <a:t>?</a:t>
            </a:r>
          </a:p>
          <a:p>
            <a:pPr lvl="1"/>
            <a:r>
              <a:rPr kumimoji="0" lang="zh-CN" altLang="en-US" sz="2400">
                <a:latin typeface="Comic Sans MS" panose="030F0702030302020204" pitchFamily="66" charset="0"/>
                <a:ea typeface="楷体" panose="02010609060101010101" pitchFamily="49" charset="-122"/>
              </a:rPr>
              <a:t>发送方可以等待，当某些数据或</a:t>
            </a:r>
            <a:r>
              <a:rPr kumimoji="0" lang="en-US" altLang="zh-CN" sz="2400">
                <a:latin typeface="Comic Sans MS" panose="030F0702030302020204" pitchFamily="66" charset="0"/>
                <a:ea typeface="楷体" panose="02010609060101010101" pitchFamily="49" charset="-122"/>
              </a:rPr>
              <a:t>ACK </a:t>
            </a:r>
            <a:r>
              <a:rPr kumimoji="0" lang="zh-CN" altLang="en-US" sz="2400">
                <a:latin typeface="Comic Sans MS" panose="030F0702030302020204" pitchFamily="66" charset="0"/>
                <a:ea typeface="楷体" panose="02010609060101010101" pitchFamily="49" charset="-122"/>
              </a:rPr>
              <a:t>丢失时</a:t>
            </a:r>
            <a:r>
              <a:rPr kumimoji="0" lang="en-US" altLang="zh-CN" sz="2400">
                <a:latin typeface="Comic Sans MS" panose="030F0702030302020204" pitchFamily="66" charset="0"/>
                <a:ea typeface="楷体" panose="02010609060101010101" pitchFamily="49" charset="-122"/>
              </a:rPr>
              <a:t>, </a:t>
            </a:r>
            <a:r>
              <a:rPr kumimoji="0" lang="zh-CN" altLang="en-US" sz="2400">
                <a:latin typeface="Comic Sans MS" panose="030F0702030302020204" pitchFamily="66" charset="0"/>
                <a:ea typeface="楷体" panose="02010609060101010101" pitchFamily="49" charset="-122"/>
              </a:rPr>
              <a:t>进行重传</a:t>
            </a:r>
          </a:p>
          <a:p>
            <a:pPr lvl="1"/>
            <a:r>
              <a:rPr kumimoji="0" lang="zh-CN" altLang="en-US" sz="2400">
                <a:latin typeface="Comic Sans MS" panose="030F0702030302020204" pitchFamily="66" charset="0"/>
                <a:ea typeface="楷体" panose="02010609060101010101" pitchFamily="49" charset="-122"/>
              </a:rPr>
              <a:t>想一想</a:t>
            </a:r>
            <a:r>
              <a:rPr kumimoji="0" lang="en-US" altLang="zh-CN" sz="2400">
                <a:latin typeface="Comic Sans MS" panose="030F0702030302020204" pitchFamily="66" charset="0"/>
                <a:ea typeface="楷体" panose="02010609060101010101" pitchFamily="49" charset="-122"/>
              </a:rPr>
              <a:t>: </a:t>
            </a:r>
            <a:r>
              <a:rPr kumimoji="0" lang="zh-CN" altLang="en-US" sz="2400">
                <a:latin typeface="Comic Sans MS" panose="030F0702030302020204" pitchFamily="66" charset="0"/>
                <a:ea typeface="楷体" panose="02010609060101010101" pitchFamily="49" charset="-122"/>
              </a:rPr>
              <a:t>缺点</a:t>
            </a:r>
            <a:r>
              <a:rPr kumimoji="0" lang="en-US" altLang="zh-CN" sz="2400">
                <a:latin typeface="Comic Sans MS" panose="030F0702030302020204" pitchFamily="66" charset="0"/>
                <a:ea typeface="楷体" panose="02010609060101010101" pitchFamily="49" charset="-122"/>
              </a:rPr>
              <a:t>?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024563" y="1341438"/>
            <a:ext cx="4095750" cy="4648200"/>
          </a:xfrm>
        </p:spPr>
        <p:txBody>
          <a:bodyPr>
            <a:normAutofit/>
          </a:bodyPr>
          <a:lstStyle/>
          <a:p>
            <a:r>
              <a:rPr kumimoji="0" lang="zh-CN" altLang="en-US" sz="2600">
                <a:solidFill>
                  <a:schemeClr val="hlink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方法</a:t>
            </a:r>
            <a:r>
              <a:rPr kumimoji="0" lang="en-US" altLang="zh-CN" sz="2600">
                <a:latin typeface="Comic Sans MS" panose="030F0702030302020204" pitchFamily="66" charset="0"/>
                <a:ea typeface="黑体" panose="02010609060101010101" pitchFamily="49" charset="-122"/>
              </a:rPr>
              <a:t>: </a:t>
            </a:r>
            <a:r>
              <a:rPr kumimoji="0" lang="zh-CN" altLang="en-US" sz="2600">
                <a:latin typeface="Comic Sans MS" panose="030F0702030302020204" pitchFamily="66" charset="0"/>
                <a:ea typeface="黑体" panose="02010609060101010101" pitchFamily="49" charset="-122"/>
              </a:rPr>
              <a:t>发送方等待</a:t>
            </a:r>
            <a:r>
              <a:rPr kumimoji="0" lang="en-US" altLang="zh-CN" sz="2600">
                <a:latin typeface="Comic Sans MS" panose="030F0702030302020204" pitchFamily="66" charset="0"/>
                <a:ea typeface="黑体" panose="02010609060101010101" pitchFamily="49" charset="-122"/>
              </a:rPr>
              <a:t>ACK</a:t>
            </a:r>
            <a:r>
              <a:rPr kumimoji="0" lang="zh-CN" altLang="en-US" sz="2600">
                <a:latin typeface="Comic Sans MS" panose="030F0702030302020204" pitchFamily="66" charset="0"/>
                <a:ea typeface="黑体" panose="02010609060101010101" pitchFamily="49" charset="-122"/>
              </a:rPr>
              <a:t>一段 “适当的” 时间</a:t>
            </a:r>
          </a:p>
          <a:p>
            <a:r>
              <a:rPr kumimoji="0" lang="zh-CN" altLang="en-US" sz="2600">
                <a:latin typeface="Comic Sans MS" panose="030F0702030302020204" pitchFamily="66" charset="0"/>
                <a:ea typeface="黑体" panose="02010609060101010101" pitchFamily="49" charset="-122"/>
              </a:rPr>
              <a:t>如果在这段时间里没有收到</a:t>
            </a:r>
            <a:r>
              <a:rPr kumimoji="0" lang="en-US" altLang="zh-CN" sz="2600">
                <a:latin typeface="Comic Sans MS" panose="030F0702030302020204" pitchFamily="66" charset="0"/>
                <a:ea typeface="黑体" panose="02010609060101010101" pitchFamily="49" charset="-122"/>
              </a:rPr>
              <a:t>ACK</a:t>
            </a:r>
            <a:r>
              <a:rPr kumimoji="0" lang="zh-CN" altLang="en-US" sz="2600">
                <a:latin typeface="Comic Sans MS" panose="030F0702030302020204" pitchFamily="66" charset="0"/>
                <a:ea typeface="黑体" panose="02010609060101010101" pitchFamily="49" charset="-122"/>
              </a:rPr>
              <a:t>，则进行重传</a:t>
            </a:r>
          </a:p>
          <a:p>
            <a:r>
              <a:rPr kumimoji="0" lang="zh-CN" altLang="en-US" sz="2600">
                <a:latin typeface="Comic Sans MS" panose="030F0702030302020204" pitchFamily="66" charset="0"/>
                <a:ea typeface="黑体" panose="02010609060101010101" pitchFamily="49" charset="-122"/>
              </a:rPr>
              <a:t>如果分组</a:t>
            </a:r>
            <a:r>
              <a:rPr kumimoji="0" lang="en-US" altLang="zh-CN" sz="2600">
                <a:latin typeface="Comic Sans MS" panose="030F0702030302020204" pitchFamily="66" charset="0"/>
                <a:ea typeface="黑体" panose="02010609060101010101" pitchFamily="49" charset="-122"/>
              </a:rPr>
              <a:t>(</a:t>
            </a:r>
            <a:r>
              <a:rPr kumimoji="0" lang="zh-CN" altLang="en-US" sz="2600">
                <a:latin typeface="Comic Sans MS" panose="030F0702030302020204" pitchFamily="66" charset="0"/>
                <a:ea typeface="黑体" panose="02010609060101010101" pitchFamily="49" charset="-122"/>
              </a:rPr>
              <a:t>或 </a:t>
            </a:r>
            <a:r>
              <a:rPr kumimoji="0" lang="en-US" altLang="zh-CN" sz="2600">
                <a:latin typeface="Comic Sans MS" panose="030F0702030302020204" pitchFamily="66" charset="0"/>
                <a:ea typeface="黑体" panose="02010609060101010101" pitchFamily="49" charset="-122"/>
              </a:rPr>
              <a:t>ACK)</a:t>
            </a:r>
            <a:r>
              <a:rPr kumimoji="0" lang="zh-CN" altLang="en-US" sz="2600">
                <a:latin typeface="Comic Sans MS" panose="030F0702030302020204" pitchFamily="66" charset="0"/>
                <a:ea typeface="黑体" panose="02010609060101010101" pitchFamily="49" charset="-122"/>
              </a:rPr>
              <a:t>仅仅被延迟了 </a:t>
            </a:r>
            <a:r>
              <a:rPr kumimoji="0" lang="en-US" altLang="zh-CN" sz="2600">
                <a:latin typeface="Comic Sans MS" panose="030F0702030302020204" pitchFamily="66" charset="0"/>
                <a:ea typeface="黑体" panose="02010609060101010101" pitchFamily="49" charset="-122"/>
              </a:rPr>
              <a:t>(</a:t>
            </a:r>
            <a:r>
              <a:rPr kumimoji="0" lang="zh-CN" altLang="en-US" sz="2600">
                <a:latin typeface="Comic Sans MS" panose="030F0702030302020204" pitchFamily="66" charset="0"/>
                <a:ea typeface="黑体" panose="02010609060101010101" pitchFamily="49" charset="-122"/>
              </a:rPr>
              <a:t>没有丢失</a:t>
            </a:r>
            <a:r>
              <a:rPr kumimoji="0" lang="en-US" altLang="zh-CN" sz="2600">
                <a:latin typeface="Comic Sans MS" panose="030F0702030302020204" pitchFamily="66" charset="0"/>
                <a:ea typeface="黑体" panose="02010609060101010101" pitchFamily="49" charset="-122"/>
              </a:rPr>
              <a:t>):</a:t>
            </a:r>
          </a:p>
          <a:p>
            <a:pPr lvl="1"/>
            <a:r>
              <a:rPr kumimoji="0" lang="zh-CN" altLang="en-US" sz="2200">
                <a:latin typeface="Comic Sans MS" panose="030F0702030302020204" pitchFamily="66" charset="0"/>
                <a:ea typeface="楷体" panose="02010609060101010101" pitchFamily="49" charset="-122"/>
              </a:rPr>
              <a:t>重传将导致重复</a:t>
            </a:r>
            <a:r>
              <a:rPr kumimoji="0" lang="en-US" altLang="zh-CN" sz="2200">
                <a:latin typeface="Comic Sans MS" panose="030F0702030302020204" pitchFamily="66" charset="0"/>
                <a:ea typeface="楷体" panose="02010609060101010101" pitchFamily="49" charset="-122"/>
              </a:rPr>
              <a:t>, </a:t>
            </a:r>
            <a:r>
              <a:rPr kumimoji="0" lang="zh-CN" altLang="en-US" sz="2200">
                <a:latin typeface="Comic Sans MS" panose="030F0702030302020204" pitchFamily="66" charset="0"/>
                <a:ea typeface="楷体" panose="02010609060101010101" pitchFamily="49" charset="-122"/>
              </a:rPr>
              <a:t>但使用</a:t>
            </a:r>
            <a:r>
              <a:rPr kumimoji="0" lang="en-US" altLang="zh-CN" sz="2200">
                <a:latin typeface="Comic Sans MS" panose="030F0702030302020204" pitchFamily="66" charset="0"/>
                <a:ea typeface="楷体" panose="02010609060101010101" pitchFamily="49" charset="-122"/>
              </a:rPr>
              <a:t>seq. # </a:t>
            </a:r>
            <a:r>
              <a:rPr kumimoji="0" lang="zh-CN" altLang="en-US" sz="2200">
                <a:latin typeface="Comic Sans MS" panose="030F0702030302020204" pitchFamily="66" charset="0"/>
                <a:ea typeface="楷体" panose="02010609060101010101" pitchFamily="49" charset="-122"/>
              </a:rPr>
              <a:t>可以控制</a:t>
            </a:r>
          </a:p>
          <a:p>
            <a:pPr lvl="1"/>
            <a:r>
              <a:rPr kumimoji="0" lang="zh-CN" altLang="en-US" sz="2200">
                <a:latin typeface="Comic Sans MS" panose="030F0702030302020204" pitchFamily="66" charset="0"/>
                <a:ea typeface="楷体" panose="02010609060101010101" pitchFamily="49" charset="-122"/>
              </a:rPr>
              <a:t>接收方必须指明被 </a:t>
            </a:r>
            <a:r>
              <a:rPr kumimoji="0" lang="en-US" altLang="zh-CN" sz="2200">
                <a:latin typeface="Comic Sans MS" panose="030F0702030302020204" pitchFamily="66" charset="0"/>
                <a:ea typeface="楷体" panose="02010609060101010101" pitchFamily="49" charset="-122"/>
              </a:rPr>
              <a:t>ACK</a:t>
            </a:r>
            <a:r>
              <a:rPr kumimoji="0" lang="zh-CN" altLang="en-US" sz="2200">
                <a:latin typeface="Comic Sans MS" panose="030F0702030302020204" pitchFamily="66" charset="0"/>
                <a:ea typeface="楷体" panose="02010609060101010101" pitchFamily="49" charset="-122"/>
              </a:rPr>
              <a:t>分组所确认的 </a:t>
            </a:r>
            <a:r>
              <a:rPr kumimoji="0" lang="en-US" altLang="zh-CN" sz="2200">
                <a:latin typeface="Comic Sans MS" panose="030F0702030302020204" pitchFamily="66" charset="0"/>
                <a:ea typeface="楷体" panose="02010609060101010101" pitchFamily="49" charset="-122"/>
              </a:rPr>
              <a:t>seq #</a:t>
            </a:r>
          </a:p>
          <a:p>
            <a:r>
              <a:rPr kumimoji="0" lang="zh-CN" altLang="en-US" sz="2600">
                <a:latin typeface="Comic Sans MS" panose="030F0702030302020204" pitchFamily="66" charset="0"/>
                <a:ea typeface="黑体" panose="02010609060101010101" pitchFamily="49" charset="-122"/>
              </a:rPr>
              <a:t>需要进行倒计时</a:t>
            </a:r>
          </a:p>
        </p:txBody>
      </p:sp>
    </p:spTree>
    <p:extLst>
      <p:ext uri="{BB962C8B-B14F-4D97-AF65-F5344CB8AC3E}">
        <p14:creationId xmlns:p14="http://schemas.microsoft.com/office/powerpoint/2010/main" val="12188755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kumimoji="0" lang="en-US" altLang="zh-CN" sz="3600">
                <a:latin typeface="Arial" panose="020B0604020202020204" pitchFamily="34" charset="0"/>
                <a:ea typeface="黑体" panose="02010609060101010101" pitchFamily="49" charset="-122"/>
              </a:rPr>
              <a:t>RDT3.0 </a:t>
            </a:r>
            <a:r>
              <a:rPr kumimoji="0" lang="zh-CN" altLang="en-US" sz="3600">
                <a:latin typeface="Arial" panose="020B0604020202020204" pitchFamily="34" charset="0"/>
                <a:ea typeface="黑体" panose="02010609060101010101" pitchFamily="49" charset="-122"/>
              </a:rPr>
              <a:t>发送方</a:t>
            </a:r>
          </a:p>
        </p:txBody>
      </p:sp>
      <p:pic>
        <p:nvPicPr>
          <p:cNvPr id="21506" name="Picture 3" descr="rdt30_send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1000126"/>
            <a:ext cx="7416800" cy="564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920663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Oval 22"/>
          <p:cNvSpPr>
            <a:spLocks noChangeArrowheads="1"/>
          </p:cNvSpPr>
          <p:nvPr/>
        </p:nvSpPr>
        <p:spPr bwMode="auto">
          <a:xfrm>
            <a:off x="4252914" y="3422650"/>
            <a:ext cx="847725" cy="79533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22530" name="Text Box 23"/>
          <p:cNvSpPr txBox="1">
            <a:spLocks noChangeArrowheads="1"/>
          </p:cNvSpPr>
          <p:nvPr/>
        </p:nvSpPr>
        <p:spPr bwMode="auto">
          <a:xfrm>
            <a:off x="4295775" y="3457575"/>
            <a:ext cx="8001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0" lang="en-US" altLang="zh-CN" sz="1400">
                <a:latin typeface="Arial" panose="020B0604020202020204" pitchFamily="34" charset="0"/>
              </a:rPr>
              <a:t>Wait for </a:t>
            </a:r>
          </a:p>
          <a:p>
            <a:pPr algn="ctr" eaLnBrk="0" hangingPunct="0"/>
            <a:r>
              <a:rPr kumimoji="0" lang="en-US" altLang="zh-CN" sz="1400">
                <a:latin typeface="Arial" panose="020B0604020202020204" pitchFamily="34" charset="0"/>
              </a:rPr>
              <a:t>0 from below</a:t>
            </a:r>
            <a:endParaRPr kumimoji="0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2531" name="Freeform 25"/>
          <p:cNvSpPr>
            <a:spLocks/>
          </p:cNvSpPr>
          <p:nvPr/>
        </p:nvSpPr>
        <p:spPr bwMode="auto">
          <a:xfrm>
            <a:off x="4994276" y="4117976"/>
            <a:ext cx="2403475" cy="206375"/>
          </a:xfrm>
          <a:custGeom>
            <a:avLst/>
            <a:gdLst>
              <a:gd name="T0" fmla="*/ 0 w 1514"/>
              <a:gd name="T1" fmla="*/ 0 h 130"/>
              <a:gd name="T2" fmla="*/ 2147483647 w 1514"/>
              <a:gd name="T3" fmla="*/ 2147483647 h 13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14" h="130">
                <a:moveTo>
                  <a:pt x="0" y="0"/>
                </a:moveTo>
                <a:cubicBezTo>
                  <a:pt x="266" y="130"/>
                  <a:pt x="1322" y="113"/>
                  <a:pt x="1514" y="17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Text Box 26"/>
          <p:cNvSpPr txBox="1">
            <a:spLocks noChangeArrowheads="1"/>
          </p:cNvSpPr>
          <p:nvPr/>
        </p:nvSpPr>
        <p:spPr bwMode="auto">
          <a:xfrm>
            <a:off x="4760914" y="4264025"/>
            <a:ext cx="39401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rdt_rcv(rcvpkt) &amp;&amp; notcorrupt(rcvpkt) 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  &amp;&amp; has_seq1(rcvpkt) </a:t>
            </a:r>
            <a:endParaRPr kumimoji="0"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2533" name="Line 27"/>
          <p:cNvSpPr>
            <a:spLocks noChangeShapeType="1"/>
          </p:cNvSpPr>
          <p:nvPr/>
        </p:nvSpPr>
        <p:spPr bwMode="auto">
          <a:xfrm>
            <a:off x="4872039" y="4835525"/>
            <a:ext cx="19145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4" name="Text Box 28"/>
          <p:cNvSpPr txBox="1">
            <a:spLocks noChangeArrowheads="1"/>
          </p:cNvSpPr>
          <p:nvPr/>
        </p:nvSpPr>
        <p:spPr bwMode="auto">
          <a:xfrm>
            <a:off x="4727576" y="4797426"/>
            <a:ext cx="41751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extract(rcvpkt,data)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deliver_data(data)</a:t>
            </a:r>
          </a:p>
          <a:p>
            <a:pPr eaLnBrk="0" hangingPunct="0"/>
            <a:r>
              <a:rPr kumimoji="0" lang="en-US" altLang="zh-CN" sz="1600" b="1">
                <a:solidFill>
                  <a:srgbClr val="FF0000"/>
                </a:solidFill>
                <a:latin typeface="Arial" panose="020B0604020202020204" pitchFamily="34" charset="0"/>
              </a:rPr>
              <a:t>sndpkt = make_pkt(ACK1, chksum)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udt_send(sndpkt)</a:t>
            </a:r>
            <a:endParaRPr kumimoji="0"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2535" name="Freeform 29"/>
          <p:cNvSpPr>
            <a:spLocks/>
          </p:cNvSpPr>
          <p:nvPr/>
        </p:nvSpPr>
        <p:spPr bwMode="auto">
          <a:xfrm flipH="1">
            <a:off x="3789364" y="3074988"/>
            <a:ext cx="490537" cy="1358900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6" name="Line 30"/>
          <p:cNvSpPr>
            <a:spLocks noChangeShapeType="1"/>
          </p:cNvSpPr>
          <p:nvPr/>
        </p:nvSpPr>
        <p:spPr bwMode="auto">
          <a:xfrm>
            <a:off x="1916113" y="3817938"/>
            <a:ext cx="19240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7" name="Text Box 31"/>
          <p:cNvSpPr txBox="1">
            <a:spLocks noChangeArrowheads="1"/>
          </p:cNvSpPr>
          <p:nvPr/>
        </p:nvSpPr>
        <p:spPr bwMode="auto">
          <a:xfrm>
            <a:off x="1835151" y="2981326"/>
            <a:ext cx="236061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rdt_rcv(rcvpkt) &amp;&amp; 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   (corrupt(rcvpkt) ||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     </a:t>
            </a:r>
            <a:r>
              <a:rPr kumimoji="0" lang="en-US" altLang="zh-CN" sz="1600" b="1">
                <a:solidFill>
                  <a:srgbClr val="FF0000"/>
                </a:solidFill>
                <a:latin typeface="Arial" panose="020B0604020202020204" pitchFamily="34" charset="0"/>
              </a:rPr>
              <a:t>has_seq1(rcvpkt))</a:t>
            </a:r>
            <a:endParaRPr kumimoji="0" lang="en-US" altLang="zh-CN" sz="1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8" name="Text Box 32"/>
          <p:cNvSpPr txBox="1">
            <a:spLocks noChangeArrowheads="1"/>
          </p:cNvSpPr>
          <p:nvPr/>
        </p:nvSpPr>
        <p:spPr bwMode="auto">
          <a:xfrm>
            <a:off x="1825625" y="3846514"/>
            <a:ext cx="20383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 b="1">
                <a:solidFill>
                  <a:srgbClr val="FF0000"/>
                </a:solidFill>
                <a:latin typeface="Arial" panose="020B0604020202020204" pitchFamily="34" charset="0"/>
              </a:rPr>
              <a:t>udt_send(sndpkt)</a:t>
            </a:r>
            <a:endParaRPr kumimoji="0" lang="en-US" altLang="zh-CN" sz="1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9" name="Rectangle 3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kumimoji="0"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RDT3.0: </a:t>
            </a:r>
            <a:r>
              <a:rPr kumimoji="0"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接收方</a:t>
            </a:r>
          </a:p>
        </p:txBody>
      </p:sp>
      <p:sp>
        <p:nvSpPr>
          <p:cNvPr id="22540" name="Oval 38"/>
          <p:cNvSpPr>
            <a:spLocks noChangeArrowheads="1"/>
          </p:cNvSpPr>
          <p:nvPr/>
        </p:nvSpPr>
        <p:spPr bwMode="auto">
          <a:xfrm>
            <a:off x="7319964" y="3413125"/>
            <a:ext cx="847725" cy="79533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22541" name="Text Box 39"/>
          <p:cNvSpPr txBox="1">
            <a:spLocks noChangeArrowheads="1"/>
          </p:cNvSpPr>
          <p:nvPr/>
        </p:nvSpPr>
        <p:spPr bwMode="auto">
          <a:xfrm>
            <a:off x="7362825" y="3448050"/>
            <a:ext cx="8001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0" lang="en-US" altLang="zh-CN" sz="1400">
                <a:latin typeface="Arial" panose="020B0604020202020204" pitchFamily="34" charset="0"/>
              </a:rPr>
              <a:t>Wait for </a:t>
            </a:r>
          </a:p>
          <a:p>
            <a:pPr algn="ctr" eaLnBrk="0" hangingPunct="0"/>
            <a:r>
              <a:rPr kumimoji="0" lang="en-US" altLang="zh-CN" sz="1400">
                <a:latin typeface="Arial" panose="020B0604020202020204" pitchFamily="34" charset="0"/>
              </a:rPr>
              <a:t>1 from below</a:t>
            </a:r>
            <a:endParaRPr kumimoji="0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2542" name="Freeform 41"/>
          <p:cNvSpPr>
            <a:spLocks/>
          </p:cNvSpPr>
          <p:nvPr/>
        </p:nvSpPr>
        <p:spPr bwMode="auto">
          <a:xfrm>
            <a:off x="4799014" y="3184525"/>
            <a:ext cx="2663825" cy="300038"/>
          </a:xfrm>
          <a:custGeom>
            <a:avLst/>
            <a:gdLst>
              <a:gd name="T0" fmla="*/ 0 w 1678"/>
              <a:gd name="T1" fmla="*/ 2147483647 h 189"/>
              <a:gd name="T2" fmla="*/ 2147483647 w 1678"/>
              <a:gd name="T3" fmla="*/ 2147483647 h 189"/>
              <a:gd name="T4" fmla="*/ 2147483647 w 1678"/>
              <a:gd name="T5" fmla="*/ 2147483647 h 18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78" h="189">
                <a:moveTo>
                  <a:pt x="0" y="144"/>
                </a:moveTo>
                <a:cubicBezTo>
                  <a:pt x="223" y="72"/>
                  <a:pt x="446" y="0"/>
                  <a:pt x="726" y="8"/>
                </a:cubicBezTo>
                <a:cubicBezTo>
                  <a:pt x="1006" y="16"/>
                  <a:pt x="1497" y="113"/>
                  <a:pt x="1678" y="18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Text Box 42"/>
          <p:cNvSpPr txBox="1">
            <a:spLocks noChangeArrowheads="1"/>
          </p:cNvSpPr>
          <p:nvPr/>
        </p:nvSpPr>
        <p:spPr bwMode="auto">
          <a:xfrm>
            <a:off x="4872039" y="1484313"/>
            <a:ext cx="39401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rdt_rcv(rcvpkt) &amp;&amp; notcorrupt(rcvpkt) 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  &amp;&amp; has_seq0(rcvpkt) </a:t>
            </a:r>
            <a:endParaRPr kumimoji="0"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2544" name="Text Box 43"/>
          <p:cNvSpPr txBox="1">
            <a:spLocks noChangeArrowheads="1"/>
          </p:cNvSpPr>
          <p:nvPr/>
        </p:nvSpPr>
        <p:spPr bwMode="auto">
          <a:xfrm>
            <a:off x="4943476" y="2133601"/>
            <a:ext cx="41751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extract(rcvpkt,data)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deliver_data(data)</a:t>
            </a:r>
          </a:p>
          <a:p>
            <a:pPr eaLnBrk="0" hangingPunct="0"/>
            <a:r>
              <a:rPr kumimoji="0" lang="en-US" altLang="zh-CN" sz="1600" b="1">
                <a:solidFill>
                  <a:srgbClr val="FF0000"/>
                </a:solidFill>
                <a:latin typeface="Arial" panose="020B0604020202020204" pitchFamily="34" charset="0"/>
              </a:rPr>
              <a:t>sndpkt = make_pkt(ACK0, chksum)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udt_send(sndpkt)</a:t>
            </a:r>
            <a:endParaRPr kumimoji="0"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2545" name="Line 44"/>
          <p:cNvSpPr>
            <a:spLocks noChangeShapeType="1"/>
          </p:cNvSpPr>
          <p:nvPr/>
        </p:nvSpPr>
        <p:spPr bwMode="auto">
          <a:xfrm>
            <a:off x="5087939" y="2133600"/>
            <a:ext cx="19145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6" name="Freeform 45"/>
          <p:cNvSpPr>
            <a:spLocks/>
          </p:cNvSpPr>
          <p:nvPr/>
        </p:nvSpPr>
        <p:spPr bwMode="auto">
          <a:xfrm>
            <a:off x="8040688" y="3860800"/>
            <a:ext cx="576262" cy="215900"/>
          </a:xfrm>
          <a:custGeom>
            <a:avLst/>
            <a:gdLst>
              <a:gd name="T0" fmla="*/ 0 w 363"/>
              <a:gd name="T1" fmla="*/ 2147483647 h 136"/>
              <a:gd name="T2" fmla="*/ 2147483647 w 363"/>
              <a:gd name="T3" fmla="*/ 0 h 13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63" h="136">
                <a:moveTo>
                  <a:pt x="0" y="136"/>
                </a:moveTo>
                <a:cubicBezTo>
                  <a:pt x="151" y="75"/>
                  <a:pt x="303" y="15"/>
                  <a:pt x="363" y="0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7" name="Freeform 48"/>
          <p:cNvSpPr>
            <a:spLocks/>
          </p:cNvSpPr>
          <p:nvPr/>
        </p:nvSpPr>
        <p:spPr bwMode="auto">
          <a:xfrm>
            <a:off x="8112125" y="3405188"/>
            <a:ext cx="431800" cy="792162"/>
          </a:xfrm>
          <a:custGeom>
            <a:avLst/>
            <a:gdLst>
              <a:gd name="T0" fmla="*/ 0 w 272"/>
              <a:gd name="T1" fmla="*/ 2147483647 h 499"/>
              <a:gd name="T2" fmla="*/ 2147483647 w 272"/>
              <a:gd name="T3" fmla="*/ 2147483647 h 499"/>
              <a:gd name="T4" fmla="*/ 2147483647 w 272"/>
              <a:gd name="T5" fmla="*/ 2147483647 h 499"/>
              <a:gd name="T6" fmla="*/ 2147483647 w 272"/>
              <a:gd name="T7" fmla="*/ 2147483647 h 499"/>
              <a:gd name="T8" fmla="*/ 0 w 272"/>
              <a:gd name="T9" fmla="*/ 2147483647 h 4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72" h="499">
                <a:moveTo>
                  <a:pt x="0" y="378"/>
                </a:moveTo>
                <a:cubicBezTo>
                  <a:pt x="45" y="438"/>
                  <a:pt x="91" y="499"/>
                  <a:pt x="136" y="469"/>
                </a:cubicBezTo>
                <a:cubicBezTo>
                  <a:pt x="181" y="439"/>
                  <a:pt x="272" y="272"/>
                  <a:pt x="272" y="196"/>
                </a:cubicBezTo>
                <a:cubicBezTo>
                  <a:pt x="272" y="120"/>
                  <a:pt x="181" y="30"/>
                  <a:pt x="136" y="15"/>
                </a:cubicBezTo>
                <a:cubicBezTo>
                  <a:pt x="91" y="0"/>
                  <a:pt x="23" y="91"/>
                  <a:pt x="0" y="106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8" name="Line 49"/>
          <p:cNvSpPr>
            <a:spLocks noChangeShapeType="1"/>
          </p:cNvSpPr>
          <p:nvPr/>
        </p:nvSpPr>
        <p:spPr bwMode="auto">
          <a:xfrm>
            <a:off x="8707438" y="3832225"/>
            <a:ext cx="19240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9" name="Text Box 50"/>
          <p:cNvSpPr txBox="1">
            <a:spLocks noChangeArrowheads="1"/>
          </p:cNvSpPr>
          <p:nvPr/>
        </p:nvSpPr>
        <p:spPr bwMode="auto">
          <a:xfrm>
            <a:off x="8616950" y="3860801"/>
            <a:ext cx="20383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 b="1">
                <a:solidFill>
                  <a:srgbClr val="FF0000"/>
                </a:solidFill>
                <a:latin typeface="Arial" panose="020B0604020202020204" pitchFamily="34" charset="0"/>
              </a:rPr>
              <a:t>udt_send(sndpkt)</a:t>
            </a:r>
            <a:endParaRPr kumimoji="0" lang="en-US" altLang="zh-CN" sz="1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50" name="Text Box 51"/>
          <p:cNvSpPr txBox="1">
            <a:spLocks noChangeArrowheads="1"/>
          </p:cNvSpPr>
          <p:nvPr/>
        </p:nvSpPr>
        <p:spPr bwMode="auto">
          <a:xfrm>
            <a:off x="8543925" y="2997201"/>
            <a:ext cx="25209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rdt_rcv(rcvpkt) &amp;&amp; 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   (corrupt(rcvpkt) ||</a:t>
            </a:r>
          </a:p>
          <a:p>
            <a:pPr eaLnBrk="0" hangingPunct="0"/>
            <a:r>
              <a:rPr kumimoji="0" lang="en-US" altLang="zh-CN" sz="1600">
                <a:latin typeface="Arial" panose="020B0604020202020204" pitchFamily="34" charset="0"/>
              </a:rPr>
              <a:t>     </a:t>
            </a:r>
            <a:r>
              <a:rPr kumimoji="0" lang="en-US" altLang="zh-CN" sz="1600" b="1">
                <a:solidFill>
                  <a:srgbClr val="FF0000"/>
                </a:solidFill>
                <a:latin typeface="Arial" panose="020B0604020202020204" pitchFamily="34" charset="0"/>
              </a:rPr>
              <a:t>has_seq0(rcvpkt))</a:t>
            </a:r>
            <a:endParaRPr kumimoji="0" lang="en-US" altLang="zh-CN" sz="1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04993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US" altLang="zh-CN" sz="2700">
                <a:latin typeface="Arial" charset="0"/>
                <a:ea typeface="宋体" charset="0"/>
              </a:rPr>
              <a:t>GBN: </a:t>
            </a:r>
            <a:r>
              <a:rPr kumimoji="0" lang="zh-CN" altLang="en-US" sz="2700">
                <a:latin typeface="Arial" charset="0"/>
                <a:ea typeface="黑体" charset="0"/>
              </a:rPr>
              <a:t>发送方扩展的</a:t>
            </a:r>
            <a:r>
              <a:rPr kumimoji="0" lang="zh-CN" altLang="en-US" sz="2700">
                <a:latin typeface="Arial" charset="0"/>
                <a:ea typeface="宋体" charset="0"/>
              </a:rPr>
              <a:t> </a:t>
            </a:r>
            <a:r>
              <a:rPr kumimoji="0" lang="en-US" altLang="zh-CN" sz="2700">
                <a:latin typeface="Arial" charset="0"/>
                <a:ea typeface="宋体" charset="0"/>
              </a:rPr>
              <a:t>FSM</a:t>
            </a:r>
            <a:endParaRPr kumimoji="0" lang="en-US" altLang="zh-CN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5474" name="Text Box 4"/>
          <p:cNvSpPr txBox="1">
            <a:spLocks noChangeArrowheads="1"/>
          </p:cNvSpPr>
          <p:nvPr/>
        </p:nvSpPr>
        <p:spPr bwMode="auto">
          <a:xfrm>
            <a:off x="7392593" y="1646635"/>
            <a:ext cx="15156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0" lang="zh-CN" altLang="en-US" sz="1800">
                <a:latin typeface="Times New Roman" charset="0"/>
                <a:ea typeface="黑体" charset="0"/>
                <a:cs typeface="黑体" charset="0"/>
              </a:rPr>
              <a:t>上层调用</a:t>
            </a:r>
          </a:p>
        </p:txBody>
      </p:sp>
      <p:sp>
        <p:nvSpPr>
          <p:cNvPr id="105475" name="Text Box 5"/>
          <p:cNvSpPr txBox="1">
            <a:spLocks noChangeArrowheads="1"/>
          </p:cNvSpPr>
          <p:nvPr/>
        </p:nvSpPr>
        <p:spPr bwMode="auto">
          <a:xfrm>
            <a:off x="6581775" y="5426869"/>
            <a:ext cx="2133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0" lang="en-US" altLang="zh-CN" sz="1800">
                <a:latin typeface="Arial" charset="0"/>
                <a:ea typeface="黑体" charset="0"/>
                <a:cs typeface="黑体" charset="0"/>
              </a:rPr>
              <a:t>ACK</a:t>
            </a:r>
            <a:r>
              <a:rPr kumimoji="0" lang="zh-CN" altLang="en-US" sz="1800">
                <a:latin typeface="黑体" charset="0"/>
                <a:ea typeface="黑体" charset="0"/>
                <a:cs typeface="黑体" charset="0"/>
              </a:rPr>
              <a:t>的接收</a:t>
            </a:r>
          </a:p>
        </p:txBody>
      </p:sp>
      <p:sp>
        <p:nvSpPr>
          <p:cNvPr id="105476" name="Text Box 6"/>
          <p:cNvSpPr txBox="1">
            <a:spLocks noChangeArrowheads="1"/>
          </p:cNvSpPr>
          <p:nvPr/>
        </p:nvSpPr>
        <p:spPr bwMode="auto">
          <a:xfrm>
            <a:off x="8093869" y="3482579"/>
            <a:ext cx="11727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0" lang="zh-CN" altLang="en-US" sz="1800">
                <a:latin typeface="黑体" charset="0"/>
                <a:ea typeface="黑体" charset="0"/>
                <a:cs typeface="黑体" charset="0"/>
              </a:rPr>
              <a:t>超时事件</a:t>
            </a:r>
          </a:p>
        </p:txBody>
      </p:sp>
      <p:grpSp>
        <p:nvGrpSpPr>
          <p:cNvPr id="105477" name="Group 6"/>
          <p:cNvGrpSpPr>
            <a:grpSpLocks/>
          </p:cNvGrpSpPr>
          <p:nvPr/>
        </p:nvGrpSpPr>
        <p:grpSpPr bwMode="auto">
          <a:xfrm>
            <a:off x="5318523" y="3664746"/>
            <a:ext cx="600075" cy="492919"/>
            <a:chOff x="0" y="0"/>
            <a:chExt cx="504" cy="414"/>
          </a:xfrm>
        </p:grpSpPr>
        <p:sp>
          <p:nvSpPr>
            <p:cNvPr id="105497" name="Oval 9"/>
            <p:cNvSpPr>
              <a:spLocks noChangeArrowheads="1"/>
            </p:cNvSpPr>
            <p:nvPr/>
          </p:nvSpPr>
          <p:spPr bwMode="auto">
            <a:xfrm>
              <a:off x="65" y="0"/>
              <a:ext cx="420" cy="41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98" name="Text Box 10"/>
            <p:cNvSpPr txBox="1">
              <a:spLocks noChangeArrowheads="1"/>
            </p:cNvSpPr>
            <p:nvPr/>
          </p:nvSpPr>
          <p:spPr bwMode="auto">
            <a:xfrm>
              <a:off x="0" y="96"/>
              <a:ext cx="504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9pPr>
            </a:lstStyle>
            <a:p>
              <a:pPr algn="ctr" eaLnBrk="0" hangingPunct="0"/>
              <a:r>
                <a:rPr kumimoji="0" lang="en-US" altLang="zh-CN" sz="1200">
                  <a:latin typeface="Arial" charset="0"/>
                  <a:ea typeface="宋体" charset="0"/>
                  <a:cs typeface="宋体" charset="0"/>
                </a:rPr>
                <a:t>Wait</a:t>
              </a:r>
              <a:endParaRPr kumimoji="0" lang="en-US" altLang="zh-CN" sz="1200">
                <a:latin typeface="Times New Roman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05478" name="Line 11"/>
          <p:cNvSpPr>
            <a:spLocks noChangeShapeType="1"/>
          </p:cNvSpPr>
          <p:nvPr/>
        </p:nvSpPr>
        <p:spPr bwMode="auto">
          <a:xfrm>
            <a:off x="4188620" y="2980137"/>
            <a:ext cx="1218010" cy="802481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79" name="Text Box 12"/>
          <p:cNvSpPr txBox="1">
            <a:spLocks noChangeArrowheads="1"/>
          </p:cNvSpPr>
          <p:nvPr/>
        </p:nvSpPr>
        <p:spPr bwMode="auto">
          <a:xfrm>
            <a:off x="6230543" y="3714751"/>
            <a:ext cx="2082403" cy="621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start_timer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udt_send(sndpkt[base])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udt_send(sndpkt[base+1])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…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udt_send(sndpkt[nextseqnum-1])</a:t>
            </a:r>
          </a:p>
          <a:p>
            <a:pPr algn="ctr" eaLnBrk="0" hangingPunct="0"/>
            <a:endParaRPr kumimoji="0" lang="en-US" sz="105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80" name="Text Box 13"/>
          <p:cNvSpPr txBox="1">
            <a:spLocks noChangeArrowheads="1"/>
          </p:cNvSpPr>
          <p:nvPr/>
        </p:nvSpPr>
        <p:spPr bwMode="auto">
          <a:xfrm>
            <a:off x="6247212" y="3538538"/>
            <a:ext cx="825103" cy="205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timeout</a:t>
            </a:r>
            <a:endParaRPr kumimoji="0" lang="en-US" altLang="zh-CN" sz="1050">
              <a:latin typeface="Times New Roman" charset="0"/>
              <a:ea typeface="宋体" charset="0"/>
              <a:cs typeface="宋体" charset="0"/>
            </a:endParaRPr>
          </a:p>
          <a:p>
            <a:pPr algn="ctr" eaLnBrk="0" hangingPunct="0"/>
            <a:endParaRPr kumimoji="0" lang="en-US" altLang="zh-CN" sz="105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81" name="Line 14"/>
          <p:cNvSpPr>
            <a:spLocks noChangeShapeType="1"/>
          </p:cNvSpPr>
          <p:nvPr/>
        </p:nvSpPr>
        <p:spPr bwMode="auto">
          <a:xfrm>
            <a:off x="6310312" y="3745706"/>
            <a:ext cx="121443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82" name="Freeform 15"/>
          <p:cNvSpPr>
            <a:spLocks/>
          </p:cNvSpPr>
          <p:nvPr/>
        </p:nvSpPr>
        <p:spPr bwMode="auto">
          <a:xfrm>
            <a:off x="5937648" y="3481389"/>
            <a:ext cx="295275" cy="864394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83" name="Text Box 16"/>
          <p:cNvSpPr txBox="1">
            <a:spLocks noChangeArrowheads="1"/>
          </p:cNvSpPr>
          <p:nvPr/>
        </p:nvSpPr>
        <p:spPr bwMode="auto">
          <a:xfrm>
            <a:off x="5062540" y="1659734"/>
            <a:ext cx="1750219" cy="1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rdt_send(data)</a:t>
            </a:r>
            <a:r>
              <a:rPr kumimoji="0" lang="en-US" altLang="zh-CN" sz="750">
                <a:latin typeface="Arial" charset="0"/>
                <a:ea typeface="宋体" charset="0"/>
                <a:cs typeface="宋体" charset="0"/>
              </a:rPr>
              <a:t> </a:t>
            </a:r>
            <a:endParaRPr kumimoji="0" lang="en-US" altLang="zh-CN" sz="180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84" name="Line 17"/>
          <p:cNvSpPr>
            <a:spLocks noChangeShapeType="1"/>
          </p:cNvSpPr>
          <p:nvPr/>
        </p:nvSpPr>
        <p:spPr bwMode="auto">
          <a:xfrm>
            <a:off x="5143501" y="1899047"/>
            <a:ext cx="14358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85" name="Text Box 18"/>
          <p:cNvSpPr txBox="1">
            <a:spLocks noChangeArrowheads="1"/>
          </p:cNvSpPr>
          <p:nvPr/>
        </p:nvSpPr>
        <p:spPr bwMode="auto">
          <a:xfrm>
            <a:off x="5087542" y="1863328"/>
            <a:ext cx="4140994" cy="110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if (nextseqnum &lt; base+N) {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    sndpkt[nextseqnum] = make_pkt(nextseqnum,data,chksum)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    udt_send(sndpkt[nextseqnum])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    if (base == nextseqnum)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       start_timer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    nextseqnum++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    }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else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  refuse_data(data)</a:t>
            </a:r>
            <a:endParaRPr kumimoji="0" lang="en-US" altLang="zh-CN" sz="105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86" name="Freeform 19"/>
          <p:cNvSpPr>
            <a:spLocks/>
          </p:cNvSpPr>
          <p:nvPr/>
        </p:nvSpPr>
        <p:spPr bwMode="auto">
          <a:xfrm rot="5142103" flipH="1">
            <a:off x="5507833" y="3057526"/>
            <a:ext cx="295275" cy="864394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87" name="Text Box 20"/>
          <p:cNvSpPr txBox="1">
            <a:spLocks noChangeArrowheads="1"/>
          </p:cNvSpPr>
          <p:nvPr/>
        </p:nvSpPr>
        <p:spPr bwMode="auto">
          <a:xfrm>
            <a:off x="5174459" y="4966099"/>
            <a:ext cx="2764631" cy="621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base =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getacknum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rcvpkt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)+1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If (base &gt;=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nextseqnum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){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  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stop_timer</a:t>
            </a:r>
            <a:endParaRPr kumimoji="0" lang="en-US" altLang="zh-CN" sz="1050" dirty="0">
              <a:latin typeface="Arial" charset="0"/>
              <a:ea typeface="宋体" charset="0"/>
              <a:cs typeface="宋体" charset="0"/>
            </a:endParaRP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  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nextseqnum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=base;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 }else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  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start_timer</a:t>
            </a:r>
            <a:endParaRPr kumimoji="0" lang="en-US" altLang="zh-CN" sz="1050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88" name="Text Box 21"/>
          <p:cNvSpPr txBox="1">
            <a:spLocks noChangeArrowheads="1"/>
          </p:cNvSpPr>
          <p:nvPr/>
        </p:nvSpPr>
        <p:spPr bwMode="auto">
          <a:xfrm>
            <a:off x="5183981" y="4591051"/>
            <a:ext cx="2125266" cy="335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rdt_rcv(rcvpkt) &amp;&amp; 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   notcorrupt(rcvpkt) </a:t>
            </a:r>
          </a:p>
          <a:p>
            <a:pPr algn="ctr" eaLnBrk="0" hangingPunct="0"/>
            <a:endParaRPr kumimoji="0" lang="en-US" sz="105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89" name="Line 22"/>
          <p:cNvSpPr>
            <a:spLocks noChangeShapeType="1"/>
          </p:cNvSpPr>
          <p:nvPr/>
        </p:nvSpPr>
        <p:spPr bwMode="auto">
          <a:xfrm>
            <a:off x="5253037" y="4983956"/>
            <a:ext cx="12144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0" name="Freeform 23"/>
          <p:cNvSpPr>
            <a:spLocks/>
          </p:cNvSpPr>
          <p:nvPr/>
        </p:nvSpPr>
        <p:spPr bwMode="auto">
          <a:xfrm>
            <a:off x="5295901" y="4192193"/>
            <a:ext cx="790575" cy="506015"/>
          </a:xfrm>
          <a:custGeom>
            <a:avLst/>
            <a:gdLst>
              <a:gd name="T0" fmla="*/ 2147483647 w 664"/>
              <a:gd name="T1" fmla="*/ 2147483647 h 425"/>
              <a:gd name="T2" fmla="*/ 2147483647 w 664"/>
              <a:gd name="T3" fmla="*/ 0 h 42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64" h="425">
                <a:moveTo>
                  <a:pt x="241" y="20"/>
                </a:moveTo>
                <a:cubicBezTo>
                  <a:pt x="0" y="393"/>
                  <a:pt x="664" y="425"/>
                  <a:pt x="388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1" name="Line 24"/>
          <p:cNvSpPr>
            <a:spLocks noChangeShapeType="1"/>
          </p:cNvSpPr>
          <p:nvPr/>
        </p:nvSpPr>
        <p:spPr bwMode="auto">
          <a:xfrm>
            <a:off x="3877867" y="3300413"/>
            <a:ext cx="60245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2" name="Text Box 25"/>
          <p:cNvSpPr txBox="1">
            <a:spLocks noChangeArrowheads="1"/>
          </p:cNvSpPr>
          <p:nvPr/>
        </p:nvSpPr>
        <p:spPr bwMode="auto">
          <a:xfrm>
            <a:off x="3782617" y="3277791"/>
            <a:ext cx="1114425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base=1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nextseqnum=1</a:t>
            </a:r>
            <a:endParaRPr kumimoji="0" lang="en-US" altLang="zh-CN" sz="1050">
              <a:latin typeface="Times New Roman" charset="0"/>
              <a:ea typeface="宋体" charset="0"/>
              <a:cs typeface="宋体" charset="0"/>
            </a:endParaRPr>
          </a:p>
          <a:p>
            <a:pPr algn="ctr" eaLnBrk="0" hangingPunct="0"/>
            <a:endParaRPr kumimoji="0" lang="en-US" altLang="zh-CN" sz="180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93" name="Text Box 26"/>
          <p:cNvSpPr txBox="1">
            <a:spLocks noChangeArrowheads="1"/>
          </p:cNvSpPr>
          <p:nvPr/>
        </p:nvSpPr>
        <p:spPr bwMode="auto">
          <a:xfrm>
            <a:off x="3605214" y="4074320"/>
            <a:ext cx="1535906" cy="335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rdt_rcv(rcvpkt) 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   &amp;&amp; corrupt(rcvpkt)</a:t>
            </a:r>
            <a:r>
              <a:rPr kumimoji="0" lang="en-US" altLang="zh-CN" sz="750">
                <a:latin typeface="Arial" charset="0"/>
                <a:ea typeface="宋体" charset="0"/>
                <a:cs typeface="宋体" charset="0"/>
              </a:rPr>
              <a:t> </a:t>
            </a:r>
          </a:p>
          <a:p>
            <a:pPr algn="ctr" eaLnBrk="0" hangingPunct="0"/>
            <a:endParaRPr kumimoji="0" lang="en-US" altLang="zh-CN" sz="180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94" name="Line 27"/>
          <p:cNvSpPr>
            <a:spLocks noChangeShapeType="1"/>
          </p:cNvSpPr>
          <p:nvPr/>
        </p:nvSpPr>
        <p:spPr bwMode="auto">
          <a:xfrm flipV="1">
            <a:off x="3674271" y="4448175"/>
            <a:ext cx="1140619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5" name="Freeform 28"/>
          <p:cNvSpPr>
            <a:spLocks/>
          </p:cNvSpPr>
          <p:nvPr/>
        </p:nvSpPr>
        <p:spPr bwMode="auto">
          <a:xfrm>
            <a:off x="4841082" y="4023125"/>
            <a:ext cx="521494" cy="478631"/>
          </a:xfrm>
          <a:custGeom>
            <a:avLst/>
            <a:gdLst>
              <a:gd name="T0" fmla="*/ 2147483647 w 1095"/>
              <a:gd name="T1" fmla="*/ 0 h 1005"/>
              <a:gd name="T2" fmla="*/ 2147483647 w 1095"/>
              <a:gd name="T3" fmla="*/ 2147483647 h 100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095" h="1005">
                <a:moveTo>
                  <a:pt x="1005" y="0"/>
                </a:moveTo>
                <a:cubicBezTo>
                  <a:pt x="0" y="30"/>
                  <a:pt x="645" y="1005"/>
                  <a:pt x="1095" y="16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6" name="Text Box 29"/>
          <p:cNvSpPr txBox="1">
            <a:spLocks noChangeArrowheads="1"/>
          </p:cNvSpPr>
          <p:nvPr/>
        </p:nvSpPr>
        <p:spPr bwMode="auto">
          <a:xfrm>
            <a:off x="3790974" y="3052764"/>
            <a:ext cx="2904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algn="ctr" eaLnBrk="0" hangingPunct="0"/>
            <a:r>
              <a:rPr kumimoji="0" lang="en-US" altLang="zh-CN" sz="1200">
                <a:latin typeface="Symbol" charset="0"/>
                <a:ea typeface="宋体" charset="0"/>
                <a:cs typeface="宋体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273164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US" altLang="zh-CN" sz="2700">
                <a:latin typeface="Arial" charset="0"/>
                <a:ea typeface="宋体" charset="0"/>
              </a:rPr>
              <a:t>GBN: </a:t>
            </a:r>
            <a:r>
              <a:rPr kumimoji="0" lang="zh-CN" altLang="en-US" sz="2700">
                <a:latin typeface="Arial" charset="0"/>
                <a:ea typeface="黑体" charset="0"/>
              </a:rPr>
              <a:t>接收方的</a:t>
            </a:r>
            <a:r>
              <a:rPr kumimoji="0" lang="zh-CN" altLang="en-US" sz="2700">
                <a:latin typeface="Arial" charset="0"/>
                <a:ea typeface="宋体" charset="0"/>
              </a:rPr>
              <a:t> </a:t>
            </a:r>
            <a:r>
              <a:rPr kumimoji="0" lang="en-US" altLang="zh-CN" sz="2700">
                <a:latin typeface="Arial" charset="0"/>
                <a:ea typeface="宋体" charset="0"/>
              </a:rPr>
              <a:t>FSM</a:t>
            </a:r>
            <a:endParaRPr kumimoji="0" lang="en-US" altLang="zh-CN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6498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152776" y="3402975"/>
            <a:ext cx="5872163" cy="21717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kumimoji="0" lang="zh-CN" altLang="en-US" sz="1800" u="sng" dirty="0">
                <a:solidFill>
                  <a:srgbClr val="FF0000"/>
                </a:solidFill>
                <a:latin typeface="黑体" charset="0"/>
                <a:ea typeface="黑体" charset="0"/>
              </a:rPr>
              <a:t>接收方举例</a:t>
            </a:r>
            <a:r>
              <a:rPr kumimoji="0" lang="en-US" altLang="zh-CN" sz="1800" u="sng" dirty="0">
                <a:solidFill>
                  <a:srgbClr val="FF0000"/>
                </a:solidFill>
                <a:latin typeface="黑体" charset="0"/>
                <a:ea typeface="黑体" charset="0"/>
              </a:rPr>
              <a:t>:</a:t>
            </a:r>
            <a:endParaRPr kumimoji="0" lang="en-US" altLang="zh-CN" sz="1800" dirty="0">
              <a:latin typeface="黑体" charset="0"/>
              <a:ea typeface="黑体" charset="0"/>
            </a:endParaRPr>
          </a:p>
          <a:p>
            <a:pPr eaLnBrk="1" hangingPunct="1">
              <a:lnSpc>
                <a:spcPct val="90000"/>
              </a:lnSpc>
            </a:pPr>
            <a:r>
              <a:rPr kumimoji="0" lang="en-US" altLang="zh-CN" sz="1800" dirty="0">
                <a:latin typeface="Comic Sans MS" charset="0"/>
                <a:ea typeface="黑体" charset="0"/>
              </a:rPr>
              <a:t>ACK: </a:t>
            </a:r>
            <a:r>
              <a:rPr kumimoji="0" lang="zh-CN" altLang="en-US" sz="1800" dirty="0">
                <a:latin typeface="Comic Sans MS" charset="0"/>
                <a:ea typeface="黑体" charset="0"/>
              </a:rPr>
              <a:t>对正确接收到的分组中按序进行</a:t>
            </a:r>
            <a:r>
              <a:rPr kumimoji="0" lang="en-US" altLang="zh-CN" sz="1800" dirty="0">
                <a:latin typeface="Comic Sans MS" charset="0"/>
                <a:ea typeface="黑体" charset="0"/>
              </a:rPr>
              <a:t>ACK</a:t>
            </a:r>
          </a:p>
          <a:p>
            <a:pPr lvl="1" eaLnBrk="1" hangingPunct="1">
              <a:lnSpc>
                <a:spcPct val="90000"/>
              </a:lnSpc>
            </a:pPr>
            <a:r>
              <a:rPr kumimoji="0" lang="zh-CN" altLang="en-US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可以产生重复的</a:t>
            </a:r>
            <a:r>
              <a:rPr kumimoji="0" lang="en-US" altLang="zh-CN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ACKs</a:t>
            </a:r>
          </a:p>
          <a:p>
            <a:pPr lvl="1" eaLnBrk="1" hangingPunct="1">
              <a:lnSpc>
                <a:spcPct val="90000"/>
              </a:lnSpc>
            </a:pPr>
            <a:r>
              <a:rPr kumimoji="0" lang="zh-CN" altLang="en-US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仅仅需要记住</a:t>
            </a:r>
            <a:r>
              <a:rPr kumimoji="0" lang="en-US" altLang="zh-CN" sz="1800" b="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expectedseqnum</a:t>
            </a:r>
            <a:r>
              <a:rPr kumimoji="0" lang="zh-CN" altLang="en-US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（预期的序号）</a:t>
            </a:r>
          </a:p>
          <a:p>
            <a:pPr eaLnBrk="1" hangingPunct="1">
              <a:lnSpc>
                <a:spcPct val="90000"/>
              </a:lnSpc>
            </a:pPr>
            <a:r>
              <a:rPr kumimoji="0" lang="zh-CN" altLang="en-US" sz="1800" dirty="0">
                <a:latin typeface="Comic Sans MS" charset="0"/>
                <a:ea typeface="黑体" charset="0"/>
              </a:rPr>
              <a:t>失序分组</a:t>
            </a:r>
            <a:r>
              <a:rPr kumimoji="0" lang="en-US" altLang="zh-CN" sz="1800" dirty="0">
                <a:latin typeface="Comic Sans MS" charset="0"/>
                <a:ea typeface="黑体" charset="0"/>
              </a:rPr>
              <a:t>: </a:t>
            </a:r>
          </a:p>
          <a:p>
            <a:pPr lvl="1" eaLnBrk="1" hangingPunct="1">
              <a:lnSpc>
                <a:spcPct val="90000"/>
              </a:lnSpc>
            </a:pPr>
            <a:r>
              <a:rPr kumimoji="0" lang="zh-CN" altLang="en-US" sz="1800" b="0" dirty="0">
                <a:latin typeface="Comic Sans MS" charset="0"/>
                <a:ea typeface="黑体" charset="0"/>
                <a:cs typeface="黑体" charset="0"/>
              </a:rPr>
              <a:t>丢弃 </a:t>
            </a:r>
            <a:r>
              <a:rPr kumimoji="0" lang="en-US" altLang="zh-CN" sz="1800" b="0" dirty="0">
                <a:latin typeface="Comic Sans MS" charset="0"/>
                <a:ea typeface="黑体" charset="0"/>
                <a:cs typeface="黑体" charset="0"/>
              </a:rPr>
              <a:t>(</a:t>
            </a:r>
            <a:r>
              <a:rPr kumimoji="0" lang="zh-CN" altLang="en-US" sz="1800" b="0" dirty="0">
                <a:latin typeface="Comic Sans MS" charset="0"/>
                <a:ea typeface="黑体" charset="0"/>
                <a:cs typeface="黑体" charset="0"/>
              </a:rPr>
              <a:t>不缓存</a:t>
            </a:r>
            <a:r>
              <a:rPr kumimoji="0" lang="en-US" altLang="zh-CN" sz="1800" b="0" dirty="0">
                <a:latin typeface="Comic Sans MS" charset="0"/>
                <a:ea typeface="黑体" charset="0"/>
                <a:cs typeface="黑体" charset="0"/>
              </a:rPr>
              <a:t>) -&gt; </a:t>
            </a:r>
            <a:r>
              <a:rPr kumimoji="0" lang="zh-CN" altLang="en-US" sz="1800" b="0" dirty="0">
                <a:solidFill>
                  <a:srgbClr val="FF0000"/>
                </a:solidFill>
                <a:latin typeface="Comic Sans MS" charset="0"/>
                <a:ea typeface="黑体" charset="0"/>
                <a:cs typeface="黑体" charset="0"/>
              </a:rPr>
              <a:t>不进行接收缓存</a:t>
            </a:r>
            <a:r>
              <a:rPr kumimoji="0" lang="en-US" altLang="zh-CN" sz="1800" b="0" dirty="0">
                <a:latin typeface="Comic Sans MS" charset="0"/>
                <a:ea typeface="黑体" charset="0"/>
                <a:cs typeface="黑体" charset="0"/>
              </a:rPr>
              <a:t>!</a:t>
            </a:r>
          </a:p>
          <a:p>
            <a:pPr lvl="1" eaLnBrk="1" hangingPunct="1">
              <a:lnSpc>
                <a:spcPct val="90000"/>
              </a:lnSpc>
            </a:pPr>
            <a:r>
              <a:rPr kumimoji="0" lang="zh-CN" altLang="en-US" sz="1800" b="0" dirty="0">
                <a:latin typeface="Comic Sans MS" charset="0"/>
                <a:ea typeface="黑体" charset="0"/>
                <a:cs typeface="黑体" charset="0"/>
              </a:rPr>
              <a:t>接收到的分组中按序对最高 </a:t>
            </a:r>
            <a:r>
              <a:rPr kumimoji="0" lang="en-US" altLang="zh-CN" sz="1800" b="0" dirty="0">
                <a:latin typeface="Comic Sans MS" charset="0"/>
                <a:ea typeface="黑体" charset="0"/>
                <a:cs typeface="黑体" charset="0"/>
              </a:rPr>
              <a:t>seq # </a:t>
            </a:r>
            <a:r>
              <a:rPr kumimoji="0" lang="zh-CN" altLang="en-US" sz="1800" b="0" dirty="0">
                <a:latin typeface="Comic Sans MS" charset="0"/>
                <a:ea typeface="黑体" charset="0"/>
                <a:cs typeface="黑体" charset="0"/>
              </a:rPr>
              <a:t>进行</a:t>
            </a:r>
            <a:r>
              <a:rPr kumimoji="0" lang="en-US" altLang="zh-CN" sz="1800" b="0" dirty="0">
                <a:latin typeface="Comic Sans MS" charset="0"/>
                <a:ea typeface="黑体" charset="0"/>
                <a:cs typeface="黑体" charset="0"/>
              </a:rPr>
              <a:t>ACK</a:t>
            </a:r>
          </a:p>
        </p:txBody>
      </p:sp>
      <p:sp>
        <p:nvSpPr>
          <p:cNvPr id="106499" name="Oval 5"/>
          <p:cNvSpPr>
            <a:spLocks noChangeArrowheads="1"/>
          </p:cNvSpPr>
          <p:nvPr/>
        </p:nvSpPr>
        <p:spPr bwMode="auto">
          <a:xfrm>
            <a:off x="5036345" y="2283621"/>
            <a:ext cx="500063" cy="492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500" name="Text Box 6"/>
          <p:cNvSpPr txBox="1">
            <a:spLocks noChangeArrowheads="1"/>
          </p:cNvSpPr>
          <p:nvPr/>
        </p:nvSpPr>
        <p:spPr bwMode="auto">
          <a:xfrm>
            <a:off x="4968480" y="2409826"/>
            <a:ext cx="600075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algn="ctr" eaLnBrk="0" hangingPunct="0"/>
            <a:r>
              <a:rPr kumimoji="0" lang="en-US" altLang="zh-CN" sz="1200">
                <a:latin typeface="Arial" charset="0"/>
                <a:ea typeface="宋体" charset="0"/>
                <a:cs typeface="宋体" charset="0"/>
              </a:rPr>
              <a:t>Wait</a:t>
            </a:r>
            <a:endParaRPr kumimoji="0" lang="en-US" altLang="zh-CN" sz="120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6501" name="Line 7"/>
          <p:cNvSpPr>
            <a:spLocks noChangeShapeType="1"/>
          </p:cNvSpPr>
          <p:nvPr/>
        </p:nvSpPr>
        <p:spPr bwMode="auto">
          <a:xfrm>
            <a:off x="3300414" y="2163367"/>
            <a:ext cx="1724025" cy="355997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2" name="Text Box 8"/>
          <p:cNvSpPr txBox="1">
            <a:spLocks noChangeArrowheads="1"/>
          </p:cNvSpPr>
          <p:nvPr/>
        </p:nvSpPr>
        <p:spPr bwMode="auto">
          <a:xfrm>
            <a:off x="4585098" y="1853805"/>
            <a:ext cx="1213247" cy="235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udt_send(sndpkt)</a:t>
            </a:r>
            <a:endParaRPr kumimoji="0" lang="en-US" altLang="zh-CN" sz="105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6503" name="Text Box 9"/>
          <p:cNvSpPr txBox="1">
            <a:spLocks noChangeArrowheads="1"/>
          </p:cNvSpPr>
          <p:nvPr/>
        </p:nvSpPr>
        <p:spPr bwMode="auto">
          <a:xfrm>
            <a:off x="4614863" y="1646635"/>
            <a:ext cx="544116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default</a:t>
            </a:r>
            <a:endParaRPr kumimoji="0" lang="en-US" altLang="zh-CN" sz="1050">
              <a:latin typeface="Times New Roman" charset="0"/>
              <a:ea typeface="宋体" charset="0"/>
              <a:cs typeface="宋体" charset="0"/>
            </a:endParaRPr>
          </a:p>
          <a:p>
            <a:pPr algn="ctr" eaLnBrk="0" hangingPunct="0"/>
            <a:endParaRPr kumimoji="0" lang="en-US" altLang="zh-CN" sz="180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6504" name="Line 10"/>
          <p:cNvSpPr>
            <a:spLocks noChangeShapeType="1"/>
          </p:cNvSpPr>
          <p:nvPr/>
        </p:nvSpPr>
        <p:spPr bwMode="auto">
          <a:xfrm>
            <a:off x="4675587" y="1869281"/>
            <a:ext cx="611981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5" name="Freeform 11"/>
          <p:cNvSpPr>
            <a:spLocks/>
          </p:cNvSpPr>
          <p:nvPr/>
        </p:nvSpPr>
        <p:spPr bwMode="auto">
          <a:xfrm>
            <a:off x="5541170" y="2090739"/>
            <a:ext cx="621506" cy="864394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6" name="Text Box 12"/>
          <p:cNvSpPr txBox="1">
            <a:spLocks noChangeArrowheads="1"/>
          </p:cNvSpPr>
          <p:nvPr/>
        </p:nvSpPr>
        <p:spPr bwMode="auto">
          <a:xfrm>
            <a:off x="5911456" y="1918097"/>
            <a:ext cx="2677715" cy="422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rdt_rcv(rcvpkt)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  &amp;&amp; notcurrupt(rcvpkt)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  &amp;&amp; hasseqnum(rcvpkt,expectedseqnum) </a:t>
            </a:r>
            <a:endParaRPr kumimoji="0" lang="en-US" altLang="zh-CN" sz="105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6507" name="Line 13"/>
          <p:cNvSpPr>
            <a:spLocks noChangeShapeType="1"/>
          </p:cNvSpPr>
          <p:nvPr/>
        </p:nvSpPr>
        <p:spPr bwMode="auto">
          <a:xfrm>
            <a:off x="5963841" y="2437211"/>
            <a:ext cx="2381250" cy="119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8" name="Text Box 14"/>
          <p:cNvSpPr txBox="1">
            <a:spLocks noChangeArrowheads="1"/>
          </p:cNvSpPr>
          <p:nvPr/>
        </p:nvSpPr>
        <p:spPr bwMode="auto">
          <a:xfrm>
            <a:off x="5915027" y="2469357"/>
            <a:ext cx="3236119" cy="859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extract(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rcvpkt,data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</a:p>
          <a:p>
            <a:pPr eaLnBrk="0" hangingPunct="0"/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deliver_data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(data)</a:t>
            </a:r>
          </a:p>
          <a:p>
            <a:pPr eaLnBrk="0" hangingPunct="0"/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sndpkt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=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make_pkt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expectedseqnum,ACK,chksum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</a:p>
          <a:p>
            <a:pPr eaLnBrk="0" hangingPunct="0"/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expectedseqnum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++</a:t>
            </a:r>
          </a:p>
          <a:p>
            <a:pPr eaLnBrk="0" hangingPunct="0"/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udt_send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sndpkt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, delay=500ms)</a:t>
            </a:r>
          </a:p>
          <a:p>
            <a:pPr eaLnBrk="0" hangingPunct="0"/>
            <a:endParaRPr kumimoji="0" lang="en-US" altLang="zh-CN" sz="1050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6509" name="Freeform 15"/>
          <p:cNvSpPr>
            <a:spLocks/>
          </p:cNvSpPr>
          <p:nvPr/>
        </p:nvSpPr>
        <p:spPr bwMode="auto">
          <a:xfrm rot="5142103" flipH="1">
            <a:off x="5145883" y="1697832"/>
            <a:ext cx="295275" cy="864394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10" name="Line 16"/>
          <p:cNvSpPr>
            <a:spLocks noChangeShapeType="1"/>
          </p:cNvSpPr>
          <p:nvPr/>
        </p:nvSpPr>
        <p:spPr bwMode="auto">
          <a:xfrm>
            <a:off x="3255169" y="2472929"/>
            <a:ext cx="92868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11" name="Text Box 17"/>
          <p:cNvSpPr txBox="1">
            <a:spLocks noChangeArrowheads="1"/>
          </p:cNvSpPr>
          <p:nvPr/>
        </p:nvSpPr>
        <p:spPr bwMode="auto">
          <a:xfrm>
            <a:off x="3187305" y="2488408"/>
            <a:ext cx="2731294" cy="735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expectedseqnum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=1</a:t>
            </a:r>
          </a:p>
          <a:p>
            <a:pPr eaLnBrk="0" hangingPunct="0"/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sndpkt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=    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make_pkt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expectedseqnum,ACK,chksum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</a:p>
          <a:p>
            <a:pPr eaLnBrk="0" hangingPunct="0"/>
            <a:endParaRPr kumimoji="0" lang="en-US" altLang="zh-CN" sz="1050" dirty="0">
              <a:latin typeface="Times New Roman" charset="0"/>
              <a:ea typeface="宋体" charset="0"/>
              <a:cs typeface="宋体" charset="0"/>
            </a:endParaRPr>
          </a:p>
          <a:p>
            <a:pPr algn="ctr" eaLnBrk="0" hangingPunct="0"/>
            <a:endParaRPr kumimoji="0" lang="en-US" sz="1800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6512" name="Text Box 18"/>
          <p:cNvSpPr txBox="1">
            <a:spLocks noChangeArrowheads="1"/>
          </p:cNvSpPr>
          <p:nvPr/>
        </p:nvSpPr>
        <p:spPr bwMode="auto">
          <a:xfrm>
            <a:off x="3190899" y="2245520"/>
            <a:ext cx="2904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algn="ctr" eaLnBrk="0" hangingPunct="0"/>
            <a:r>
              <a:rPr kumimoji="0" lang="en-US" altLang="zh-CN" sz="1200">
                <a:latin typeface="Symbol" charset="0"/>
                <a:ea typeface="宋体" charset="0"/>
                <a:cs typeface="宋体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067633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US" altLang="zh-CN" sz="2700" dirty="0">
                <a:latin typeface="Arial" charset="0"/>
                <a:ea typeface="宋体" charset="0"/>
              </a:rPr>
              <a:t>SR: </a:t>
            </a:r>
            <a:r>
              <a:rPr kumimoji="0" lang="zh-CN" altLang="en-US" sz="2700" dirty="0">
                <a:latin typeface="Arial" charset="0"/>
                <a:ea typeface="黑体" charset="0"/>
              </a:rPr>
              <a:t>发送方扩展的</a:t>
            </a:r>
            <a:r>
              <a:rPr kumimoji="0" lang="zh-CN" altLang="en-US" sz="2700" dirty="0">
                <a:latin typeface="Arial" charset="0"/>
                <a:ea typeface="宋体" charset="0"/>
              </a:rPr>
              <a:t> </a:t>
            </a:r>
            <a:r>
              <a:rPr kumimoji="0" lang="en-US" altLang="zh-CN" sz="2700" dirty="0">
                <a:latin typeface="Arial" charset="0"/>
                <a:ea typeface="宋体" charset="0"/>
              </a:rPr>
              <a:t>FSM</a:t>
            </a:r>
            <a:endParaRPr kumimoji="0" lang="en-US" altLang="zh-CN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5474" name="Text Box 4"/>
          <p:cNvSpPr txBox="1">
            <a:spLocks noChangeArrowheads="1"/>
          </p:cNvSpPr>
          <p:nvPr/>
        </p:nvSpPr>
        <p:spPr bwMode="auto">
          <a:xfrm>
            <a:off x="7392593" y="1646635"/>
            <a:ext cx="15156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0" lang="zh-CN" altLang="en-US" sz="1800">
                <a:latin typeface="Times New Roman" charset="0"/>
                <a:ea typeface="黑体" charset="0"/>
                <a:cs typeface="黑体" charset="0"/>
              </a:rPr>
              <a:t>上层调用</a:t>
            </a:r>
          </a:p>
        </p:txBody>
      </p:sp>
      <p:sp>
        <p:nvSpPr>
          <p:cNvPr id="105475" name="Text Box 5"/>
          <p:cNvSpPr txBox="1">
            <a:spLocks noChangeArrowheads="1"/>
          </p:cNvSpPr>
          <p:nvPr/>
        </p:nvSpPr>
        <p:spPr bwMode="auto">
          <a:xfrm>
            <a:off x="6757392" y="4801790"/>
            <a:ext cx="2133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0" lang="en-US" altLang="zh-CN" sz="1800" dirty="0">
                <a:latin typeface="Arial" charset="0"/>
                <a:ea typeface="黑体" charset="0"/>
                <a:cs typeface="黑体" charset="0"/>
              </a:rPr>
              <a:t>ACK</a:t>
            </a:r>
            <a:r>
              <a:rPr kumimoji="0" lang="zh-CN" altLang="en-US" sz="1800" dirty="0">
                <a:latin typeface="黑体" charset="0"/>
                <a:ea typeface="黑体" charset="0"/>
                <a:cs typeface="黑体" charset="0"/>
              </a:rPr>
              <a:t>接收</a:t>
            </a:r>
          </a:p>
        </p:txBody>
      </p:sp>
      <p:sp>
        <p:nvSpPr>
          <p:cNvPr id="105476" name="Text Box 6"/>
          <p:cNvSpPr txBox="1">
            <a:spLocks noChangeArrowheads="1"/>
          </p:cNvSpPr>
          <p:nvPr/>
        </p:nvSpPr>
        <p:spPr bwMode="auto">
          <a:xfrm>
            <a:off x="8093869" y="3482579"/>
            <a:ext cx="11727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0" lang="zh-CN" altLang="en-US" sz="1800">
                <a:latin typeface="黑体" charset="0"/>
                <a:ea typeface="黑体" charset="0"/>
                <a:cs typeface="黑体" charset="0"/>
              </a:rPr>
              <a:t>超时事件</a:t>
            </a:r>
          </a:p>
        </p:txBody>
      </p:sp>
      <p:grpSp>
        <p:nvGrpSpPr>
          <p:cNvPr id="105477" name="Group 6"/>
          <p:cNvGrpSpPr>
            <a:grpSpLocks/>
          </p:cNvGrpSpPr>
          <p:nvPr/>
        </p:nvGrpSpPr>
        <p:grpSpPr bwMode="auto">
          <a:xfrm>
            <a:off x="5318523" y="3664746"/>
            <a:ext cx="600075" cy="492919"/>
            <a:chOff x="0" y="0"/>
            <a:chExt cx="504" cy="414"/>
          </a:xfrm>
        </p:grpSpPr>
        <p:sp>
          <p:nvSpPr>
            <p:cNvPr id="105497" name="Oval 9"/>
            <p:cNvSpPr>
              <a:spLocks noChangeArrowheads="1"/>
            </p:cNvSpPr>
            <p:nvPr/>
          </p:nvSpPr>
          <p:spPr bwMode="auto">
            <a:xfrm>
              <a:off x="65" y="0"/>
              <a:ext cx="420" cy="41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98" name="Text Box 10"/>
            <p:cNvSpPr txBox="1">
              <a:spLocks noChangeArrowheads="1"/>
            </p:cNvSpPr>
            <p:nvPr/>
          </p:nvSpPr>
          <p:spPr bwMode="auto">
            <a:xfrm>
              <a:off x="0" y="96"/>
              <a:ext cx="504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ahoma" charset="0"/>
                  <a:ea typeface="楷体" charset="0"/>
                  <a:cs typeface="楷体" charset="0"/>
                </a:defRPr>
              </a:lvl9pPr>
            </a:lstStyle>
            <a:p>
              <a:pPr algn="ctr" eaLnBrk="0" hangingPunct="0"/>
              <a:r>
                <a:rPr kumimoji="0" lang="en-US" altLang="zh-CN" sz="1200">
                  <a:latin typeface="Arial" charset="0"/>
                  <a:ea typeface="宋体" charset="0"/>
                  <a:cs typeface="宋体" charset="0"/>
                </a:rPr>
                <a:t>Wait</a:t>
              </a:r>
              <a:endParaRPr kumimoji="0" lang="en-US" altLang="zh-CN" sz="1200">
                <a:latin typeface="Times New Roman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05478" name="Line 11"/>
          <p:cNvSpPr>
            <a:spLocks noChangeShapeType="1"/>
          </p:cNvSpPr>
          <p:nvPr/>
        </p:nvSpPr>
        <p:spPr bwMode="auto">
          <a:xfrm>
            <a:off x="4188620" y="2980137"/>
            <a:ext cx="1218010" cy="802481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79" name="Text Box 12"/>
          <p:cNvSpPr txBox="1">
            <a:spLocks noChangeArrowheads="1"/>
          </p:cNvSpPr>
          <p:nvPr/>
        </p:nvSpPr>
        <p:spPr bwMode="auto">
          <a:xfrm>
            <a:off x="6230543" y="3714751"/>
            <a:ext cx="2082403" cy="621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start_timer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seq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  <a:endParaRPr kumimoji="0" lang="en-US" altLang="zh-CN" sz="1050" dirty="0">
              <a:latin typeface="Times New Roman" charset="0"/>
              <a:ea typeface="宋体" charset="0"/>
              <a:cs typeface="宋体" charset="0"/>
            </a:endParaRPr>
          </a:p>
          <a:p>
            <a:pPr eaLnBrk="0" hangingPunct="0"/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udt_send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sndpkt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seq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])</a:t>
            </a:r>
          </a:p>
          <a:p>
            <a:pPr algn="ctr" eaLnBrk="0" hangingPunct="0"/>
            <a:endParaRPr kumimoji="0" lang="en-US" sz="1050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80" name="Text Box 13"/>
          <p:cNvSpPr txBox="1">
            <a:spLocks noChangeArrowheads="1"/>
          </p:cNvSpPr>
          <p:nvPr/>
        </p:nvSpPr>
        <p:spPr bwMode="auto">
          <a:xfrm>
            <a:off x="6247212" y="3538538"/>
            <a:ext cx="1020365" cy="17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Timeout(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seq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  <a:endParaRPr kumimoji="0" lang="en-US" altLang="zh-CN" sz="1050" dirty="0">
              <a:latin typeface="Times New Roman" charset="0"/>
              <a:ea typeface="宋体" charset="0"/>
              <a:cs typeface="宋体" charset="0"/>
            </a:endParaRPr>
          </a:p>
          <a:p>
            <a:pPr algn="ctr" eaLnBrk="0" hangingPunct="0"/>
            <a:endParaRPr kumimoji="0" lang="en-US" altLang="zh-CN" sz="1050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81" name="Line 14"/>
          <p:cNvSpPr>
            <a:spLocks noChangeShapeType="1"/>
          </p:cNvSpPr>
          <p:nvPr/>
        </p:nvSpPr>
        <p:spPr bwMode="auto">
          <a:xfrm>
            <a:off x="6310312" y="3745706"/>
            <a:ext cx="121443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82" name="Freeform 15"/>
          <p:cNvSpPr>
            <a:spLocks/>
          </p:cNvSpPr>
          <p:nvPr/>
        </p:nvSpPr>
        <p:spPr bwMode="auto">
          <a:xfrm>
            <a:off x="5937648" y="3481389"/>
            <a:ext cx="295275" cy="864394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83" name="Text Box 16"/>
          <p:cNvSpPr txBox="1">
            <a:spLocks noChangeArrowheads="1"/>
          </p:cNvSpPr>
          <p:nvPr/>
        </p:nvSpPr>
        <p:spPr bwMode="auto">
          <a:xfrm>
            <a:off x="5062540" y="1659734"/>
            <a:ext cx="1750219" cy="1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rdt_send(data)</a:t>
            </a:r>
            <a:r>
              <a:rPr kumimoji="0" lang="en-US" altLang="zh-CN" sz="750">
                <a:latin typeface="Arial" charset="0"/>
                <a:ea typeface="宋体" charset="0"/>
                <a:cs typeface="宋体" charset="0"/>
              </a:rPr>
              <a:t> </a:t>
            </a:r>
            <a:endParaRPr kumimoji="0" lang="en-US" altLang="zh-CN" sz="180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84" name="Line 17"/>
          <p:cNvSpPr>
            <a:spLocks noChangeShapeType="1"/>
          </p:cNvSpPr>
          <p:nvPr/>
        </p:nvSpPr>
        <p:spPr bwMode="auto">
          <a:xfrm>
            <a:off x="5143501" y="1899047"/>
            <a:ext cx="14358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85" name="Text Box 18"/>
          <p:cNvSpPr txBox="1">
            <a:spLocks noChangeArrowheads="1"/>
          </p:cNvSpPr>
          <p:nvPr/>
        </p:nvSpPr>
        <p:spPr bwMode="auto">
          <a:xfrm>
            <a:off x="5087542" y="1863330"/>
            <a:ext cx="4140994" cy="1434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if 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nextseqnum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&lt;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base+N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 {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  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sndpkt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nextseqnum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] =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make_pkt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nextseqnum,data,chksum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  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udt_send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sndpkt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[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nextseqnum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])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  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start_timer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nextseqnum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</a:p>
          <a:p>
            <a:pPr eaLnBrk="0" hangingPunct="0"/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  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nextseqnum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++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   }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else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refuse_data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(data)</a:t>
            </a:r>
            <a:endParaRPr kumimoji="0" lang="en-US" altLang="zh-CN" sz="1050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86" name="Freeform 19"/>
          <p:cNvSpPr>
            <a:spLocks/>
          </p:cNvSpPr>
          <p:nvPr/>
        </p:nvSpPr>
        <p:spPr bwMode="auto">
          <a:xfrm rot="5142103" flipH="1">
            <a:off x="5507833" y="3057526"/>
            <a:ext cx="295275" cy="864394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87" name="Text Box 20"/>
          <p:cNvSpPr txBox="1">
            <a:spLocks noChangeArrowheads="1"/>
          </p:cNvSpPr>
          <p:nvPr/>
        </p:nvSpPr>
        <p:spPr bwMode="auto">
          <a:xfrm>
            <a:off x="5174459" y="4966099"/>
            <a:ext cx="2764631" cy="621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seq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=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getacknum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rcvpkt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If 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seq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&gt;=base){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  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stop_timer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seq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</a:p>
          <a:p>
            <a:pPr eaLnBrk="0" hangingPunct="0"/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  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if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seq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==base)</a:t>
            </a:r>
          </a:p>
          <a:p>
            <a:pPr eaLnBrk="0" hangingPunct="0"/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      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base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=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getseq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loweset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timer)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}</a:t>
            </a:r>
            <a:endParaRPr kumimoji="0" lang="en-US" altLang="zh-CN" sz="1050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88" name="Text Box 21"/>
          <p:cNvSpPr txBox="1">
            <a:spLocks noChangeArrowheads="1"/>
          </p:cNvSpPr>
          <p:nvPr/>
        </p:nvSpPr>
        <p:spPr bwMode="auto">
          <a:xfrm>
            <a:off x="5183981" y="4591051"/>
            <a:ext cx="2125266" cy="335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rdt_rcv(rcvpkt) &amp;&amp; 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   notcorrupt(rcvpkt) </a:t>
            </a:r>
          </a:p>
          <a:p>
            <a:pPr algn="ctr" eaLnBrk="0" hangingPunct="0"/>
            <a:endParaRPr kumimoji="0" lang="en-US" sz="105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89" name="Line 22"/>
          <p:cNvSpPr>
            <a:spLocks noChangeShapeType="1"/>
          </p:cNvSpPr>
          <p:nvPr/>
        </p:nvSpPr>
        <p:spPr bwMode="auto">
          <a:xfrm>
            <a:off x="5253037" y="4983956"/>
            <a:ext cx="12144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0" name="Freeform 23"/>
          <p:cNvSpPr>
            <a:spLocks/>
          </p:cNvSpPr>
          <p:nvPr/>
        </p:nvSpPr>
        <p:spPr bwMode="auto">
          <a:xfrm>
            <a:off x="5295901" y="4192193"/>
            <a:ext cx="790575" cy="506015"/>
          </a:xfrm>
          <a:custGeom>
            <a:avLst/>
            <a:gdLst>
              <a:gd name="T0" fmla="*/ 2147483647 w 664"/>
              <a:gd name="T1" fmla="*/ 2147483647 h 425"/>
              <a:gd name="T2" fmla="*/ 2147483647 w 664"/>
              <a:gd name="T3" fmla="*/ 0 h 42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64" h="425">
                <a:moveTo>
                  <a:pt x="241" y="20"/>
                </a:moveTo>
                <a:cubicBezTo>
                  <a:pt x="0" y="393"/>
                  <a:pt x="664" y="425"/>
                  <a:pt x="388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1" name="Line 24"/>
          <p:cNvSpPr>
            <a:spLocks noChangeShapeType="1"/>
          </p:cNvSpPr>
          <p:nvPr/>
        </p:nvSpPr>
        <p:spPr bwMode="auto">
          <a:xfrm>
            <a:off x="3877867" y="3300413"/>
            <a:ext cx="60245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2" name="Text Box 25"/>
          <p:cNvSpPr txBox="1">
            <a:spLocks noChangeArrowheads="1"/>
          </p:cNvSpPr>
          <p:nvPr/>
        </p:nvSpPr>
        <p:spPr bwMode="auto">
          <a:xfrm>
            <a:off x="3782617" y="3277791"/>
            <a:ext cx="1114425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base=1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nextseqnum=1</a:t>
            </a:r>
            <a:endParaRPr kumimoji="0" lang="en-US" altLang="zh-CN" sz="1050">
              <a:latin typeface="Times New Roman" charset="0"/>
              <a:ea typeface="宋体" charset="0"/>
              <a:cs typeface="宋体" charset="0"/>
            </a:endParaRPr>
          </a:p>
          <a:p>
            <a:pPr algn="ctr" eaLnBrk="0" hangingPunct="0"/>
            <a:endParaRPr kumimoji="0" lang="en-US" altLang="zh-CN" sz="180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93" name="Text Box 26"/>
          <p:cNvSpPr txBox="1">
            <a:spLocks noChangeArrowheads="1"/>
          </p:cNvSpPr>
          <p:nvPr/>
        </p:nvSpPr>
        <p:spPr bwMode="auto">
          <a:xfrm>
            <a:off x="3605214" y="4074320"/>
            <a:ext cx="1535906" cy="335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rdt_rcv(rcvpkt) </a:t>
            </a:r>
          </a:p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   &amp;&amp; corrupt(rcvpkt)</a:t>
            </a:r>
            <a:r>
              <a:rPr kumimoji="0" lang="en-US" altLang="zh-CN" sz="750">
                <a:latin typeface="Arial" charset="0"/>
                <a:ea typeface="宋体" charset="0"/>
                <a:cs typeface="宋体" charset="0"/>
              </a:rPr>
              <a:t> </a:t>
            </a:r>
          </a:p>
          <a:p>
            <a:pPr algn="ctr" eaLnBrk="0" hangingPunct="0"/>
            <a:endParaRPr kumimoji="0" lang="en-US" altLang="zh-CN" sz="180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5494" name="Line 27"/>
          <p:cNvSpPr>
            <a:spLocks noChangeShapeType="1"/>
          </p:cNvSpPr>
          <p:nvPr/>
        </p:nvSpPr>
        <p:spPr bwMode="auto">
          <a:xfrm flipV="1">
            <a:off x="3674271" y="4448175"/>
            <a:ext cx="1140619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5" name="Freeform 28"/>
          <p:cNvSpPr>
            <a:spLocks/>
          </p:cNvSpPr>
          <p:nvPr/>
        </p:nvSpPr>
        <p:spPr bwMode="auto">
          <a:xfrm>
            <a:off x="4841082" y="4023125"/>
            <a:ext cx="521494" cy="478631"/>
          </a:xfrm>
          <a:custGeom>
            <a:avLst/>
            <a:gdLst>
              <a:gd name="T0" fmla="*/ 2147483647 w 1095"/>
              <a:gd name="T1" fmla="*/ 0 h 1005"/>
              <a:gd name="T2" fmla="*/ 2147483647 w 1095"/>
              <a:gd name="T3" fmla="*/ 2147483647 h 100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095" h="1005">
                <a:moveTo>
                  <a:pt x="1005" y="0"/>
                </a:moveTo>
                <a:cubicBezTo>
                  <a:pt x="0" y="30"/>
                  <a:pt x="645" y="1005"/>
                  <a:pt x="1095" y="16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6" name="Text Box 29"/>
          <p:cNvSpPr txBox="1">
            <a:spLocks noChangeArrowheads="1"/>
          </p:cNvSpPr>
          <p:nvPr/>
        </p:nvSpPr>
        <p:spPr bwMode="auto">
          <a:xfrm>
            <a:off x="3790974" y="3052764"/>
            <a:ext cx="2904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algn="ctr" eaLnBrk="0" hangingPunct="0"/>
            <a:r>
              <a:rPr kumimoji="0" lang="en-US" altLang="zh-CN" sz="1200">
                <a:latin typeface="Symbol" charset="0"/>
                <a:ea typeface="宋体" charset="0"/>
                <a:cs typeface="宋体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04642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US" altLang="zh-CN" sz="2700" dirty="0">
                <a:latin typeface="Arial" charset="0"/>
                <a:ea typeface="宋体" charset="0"/>
              </a:rPr>
              <a:t>SR: </a:t>
            </a:r>
            <a:r>
              <a:rPr kumimoji="0" lang="zh-CN" altLang="en-US" sz="2700" dirty="0">
                <a:latin typeface="Arial" charset="0"/>
                <a:ea typeface="黑体" charset="0"/>
              </a:rPr>
              <a:t>接收方的</a:t>
            </a:r>
            <a:r>
              <a:rPr kumimoji="0" lang="zh-CN" altLang="en-US" sz="2700" dirty="0">
                <a:latin typeface="Arial" charset="0"/>
                <a:ea typeface="宋体" charset="0"/>
              </a:rPr>
              <a:t> </a:t>
            </a:r>
            <a:r>
              <a:rPr kumimoji="0" lang="en-US" altLang="zh-CN" sz="2700" dirty="0">
                <a:latin typeface="Arial" charset="0"/>
                <a:ea typeface="宋体" charset="0"/>
              </a:rPr>
              <a:t>FSM</a:t>
            </a:r>
            <a:endParaRPr kumimoji="0" lang="en-US" altLang="zh-CN" dirty="0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6498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152776" y="3780010"/>
            <a:ext cx="5872163" cy="2025254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kumimoji="0" lang="zh-CN" altLang="en-US" sz="1800" u="sng" dirty="0">
                <a:solidFill>
                  <a:srgbClr val="FF0000"/>
                </a:solidFill>
                <a:latin typeface="黑体" charset="0"/>
                <a:ea typeface="黑体" charset="0"/>
              </a:rPr>
              <a:t>接收方举例</a:t>
            </a:r>
            <a:r>
              <a:rPr kumimoji="0" lang="en-US" altLang="zh-CN" sz="1800" u="sng" dirty="0">
                <a:solidFill>
                  <a:srgbClr val="FF0000"/>
                </a:solidFill>
                <a:latin typeface="黑体" charset="0"/>
                <a:ea typeface="黑体" charset="0"/>
              </a:rPr>
              <a:t>:</a:t>
            </a:r>
            <a:endParaRPr kumimoji="0" lang="en-US" altLang="zh-CN" sz="1800" dirty="0">
              <a:latin typeface="黑体" charset="0"/>
              <a:ea typeface="黑体" charset="0"/>
            </a:endParaRPr>
          </a:p>
          <a:p>
            <a:pPr eaLnBrk="1" hangingPunct="1">
              <a:lnSpc>
                <a:spcPct val="90000"/>
              </a:lnSpc>
            </a:pPr>
            <a:r>
              <a:rPr kumimoji="0" lang="en-US" altLang="zh-CN" sz="1800" dirty="0">
                <a:latin typeface="Comic Sans MS" charset="0"/>
                <a:ea typeface="黑体" charset="0"/>
              </a:rPr>
              <a:t>ACK: </a:t>
            </a:r>
            <a:r>
              <a:rPr kumimoji="0" lang="zh-CN" altLang="en-US" sz="1800" dirty="0">
                <a:latin typeface="Comic Sans MS" charset="0"/>
                <a:ea typeface="黑体" charset="0"/>
              </a:rPr>
              <a:t>对正确接收到的分组中按序进行</a:t>
            </a:r>
            <a:r>
              <a:rPr kumimoji="0" lang="en-US" altLang="zh-CN" sz="1800" dirty="0">
                <a:latin typeface="Comic Sans MS" charset="0"/>
                <a:ea typeface="黑体" charset="0"/>
              </a:rPr>
              <a:t>ACK</a:t>
            </a:r>
          </a:p>
          <a:p>
            <a:pPr lvl="1" eaLnBrk="1" hangingPunct="1">
              <a:lnSpc>
                <a:spcPct val="90000"/>
              </a:lnSpc>
            </a:pPr>
            <a:r>
              <a:rPr kumimoji="0" lang="zh-CN" altLang="en-US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可以产生重复的</a:t>
            </a:r>
            <a:r>
              <a:rPr kumimoji="0" lang="en-US" altLang="zh-CN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ACKs</a:t>
            </a:r>
          </a:p>
          <a:p>
            <a:pPr eaLnBrk="1" hangingPunct="1">
              <a:lnSpc>
                <a:spcPct val="90000"/>
              </a:lnSpc>
            </a:pPr>
            <a:r>
              <a:rPr kumimoji="0" lang="zh-CN" altLang="en-US" sz="1800" dirty="0">
                <a:latin typeface="Comic Sans MS" charset="0"/>
                <a:ea typeface="黑体" charset="0"/>
              </a:rPr>
              <a:t>失序分组</a:t>
            </a:r>
            <a:r>
              <a:rPr kumimoji="0" lang="en-US" altLang="zh-CN" sz="1800" dirty="0">
                <a:latin typeface="Comic Sans MS" charset="0"/>
                <a:ea typeface="黑体" charset="0"/>
              </a:rPr>
              <a:t>: </a:t>
            </a:r>
          </a:p>
          <a:p>
            <a:pPr lvl="1" eaLnBrk="1" hangingPunct="1">
              <a:lnSpc>
                <a:spcPct val="90000"/>
              </a:lnSpc>
            </a:pPr>
            <a:r>
              <a:rPr kumimoji="0" lang="zh-CN" altLang="en-US" sz="1800" b="0" dirty="0">
                <a:solidFill>
                  <a:srgbClr val="FF0000"/>
                </a:solidFill>
                <a:latin typeface="Comic Sans MS" charset="0"/>
                <a:ea typeface="黑体" charset="0"/>
                <a:cs typeface="黑体" charset="0"/>
              </a:rPr>
              <a:t>缓存</a:t>
            </a:r>
            <a:r>
              <a:rPr kumimoji="0" lang="en-US" altLang="zh-CN" sz="1800" b="0" dirty="0">
                <a:latin typeface="Comic Sans MS" charset="0"/>
                <a:ea typeface="黑体" charset="0"/>
                <a:cs typeface="黑体" charset="0"/>
              </a:rPr>
              <a:t>!</a:t>
            </a:r>
          </a:p>
          <a:p>
            <a:pPr lvl="1" eaLnBrk="1" hangingPunct="1">
              <a:lnSpc>
                <a:spcPct val="90000"/>
              </a:lnSpc>
            </a:pPr>
            <a:r>
              <a:rPr kumimoji="0" lang="en-US" altLang="zh-CN" sz="1800" b="0" dirty="0">
                <a:latin typeface="Comic Sans MS" charset="0"/>
                <a:ea typeface="黑体" charset="0"/>
                <a:cs typeface="黑体" charset="0"/>
              </a:rPr>
              <a:t>ACK</a:t>
            </a:r>
          </a:p>
          <a:p>
            <a:pPr>
              <a:lnSpc>
                <a:spcPct val="90000"/>
              </a:lnSpc>
            </a:pPr>
            <a:r>
              <a:rPr kumimoji="0" lang="zh-CN" altLang="en-US" sz="2100" dirty="0">
                <a:latin typeface="Comic Sans MS" charset="0"/>
                <a:ea typeface="黑体" charset="0"/>
                <a:cs typeface="黑体" charset="0"/>
              </a:rPr>
              <a:t>左沿分组到</a:t>
            </a:r>
            <a:endParaRPr kumimoji="0" lang="en-US" altLang="zh-CN" sz="2100" dirty="0">
              <a:latin typeface="Comic Sans MS" charset="0"/>
              <a:ea typeface="黑体" charset="0"/>
              <a:cs typeface="黑体" charset="0"/>
            </a:endParaRPr>
          </a:p>
          <a:p>
            <a:pPr lvl="1">
              <a:lnSpc>
                <a:spcPct val="90000"/>
              </a:lnSpc>
            </a:pPr>
            <a:r>
              <a:rPr kumimoji="0" lang="zh-CN" altLang="en-US" sz="1800" b="0" dirty="0">
                <a:latin typeface="Comic Sans MS" charset="0"/>
                <a:ea typeface="黑体" charset="0"/>
                <a:cs typeface="黑体" charset="0"/>
              </a:rPr>
              <a:t>提交连续数据</a:t>
            </a:r>
            <a:endParaRPr kumimoji="0" lang="en-US" altLang="zh-CN" sz="1800" b="0" dirty="0">
              <a:latin typeface="Comic Sans MS" charset="0"/>
              <a:ea typeface="黑体" charset="0"/>
              <a:cs typeface="黑体" charset="0"/>
            </a:endParaRPr>
          </a:p>
          <a:p>
            <a:pPr lvl="1">
              <a:lnSpc>
                <a:spcPct val="90000"/>
              </a:lnSpc>
            </a:pPr>
            <a:r>
              <a:rPr kumimoji="0" lang="zh-CN" altLang="en-US" sz="1800" b="0" dirty="0">
                <a:latin typeface="Comic Sans MS" charset="0"/>
                <a:ea typeface="黑体" charset="0"/>
                <a:cs typeface="黑体" charset="0"/>
              </a:rPr>
              <a:t>移动左沿</a:t>
            </a:r>
            <a:endParaRPr kumimoji="0" lang="en-US" altLang="zh-CN" sz="1800" b="0" dirty="0">
              <a:latin typeface="Comic Sans MS" charset="0"/>
              <a:ea typeface="黑体" charset="0"/>
              <a:cs typeface="黑体" charset="0"/>
            </a:endParaRPr>
          </a:p>
        </p:txBody>
      </p:sp>
      <p:sp>
        <p:nvSpPr>
          <p:cNvPr id="106499" name="Oval 5"/>
          <p:cNvSpPr>
            <a:spLocks noChangeArrowheads="1"/>
          </p:cNvSpPr>
          <p:nvPr/>
        </p:nvSpPr>
        <p:spPr bwMode="auto">
          <a:xfrm>
            <a:off x="5036345" y="2283621"/>
            <a:ext cx="500063" cy="492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500" name="Text Box 6"/>
          <p:cNvSpPr txBox="1">
            <a:spLocks noChangeArrowheads="1"/>
          </p:cNvSpPr>
          <p:nvPr/>
        </p:nvSpPr>
        <p:spPr bwMode="auto">
          <a:xfrm>
            <a:off x="4968480" y="2409826"/>
            <a:ext cx="600075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algn="ctr" eaLnBrk="0" hangingPunct="0"/>
            <a:r>
              <a:rPr kumimoji="0" lang="en-US" altLang="zh-CN" sz="1200">
                <a:latin typeface="Arial" charset="0"/>
                <a:ea typeface="宋体" charset="0"/>
                <a:cs typeface="宋体" charset="0"/>
              </a:rPr>
              <a:t>Wait</a:t>
            </a:r>
            <a:endParaRPr kumimoji="0" lang="en-US" altLang="zh-CN" sz="120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6501" name="Line 7"/>
          <p:cNvSpPr>
            <a:spLocks noChangeShapeType="1"/>
          </p:cNvSpPr>
          <p:nvPr/>
        </p:nvSpPr>
        <p:spPr bwMode="auto">
          <a:xfrm>
            <a:off x="3300414" y="2163367"/>
            <a:ext cx="1724025" cy="355997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2" name="Text Box 8"/>
          <p:cNvSpPr txBox="1">
            <a:spLocks noChangeArrowheads="1"/>
          </p:cNvSpPr>
          <p:nvPr/>
        </p:nvSpPr>
        <p:spPr bwMode="auto">
          <a:xfrm>
            <a:off x="4585098" y="1853805"/>
            <a:ext cx="1213247" cy="235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udt_send(sndpkt)</a:t>
            </a:r>
            <a:endParaRPr kumimoji="0" lang="en-US" altLang="zh-CN" sz="105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6503" name="Text Box 9"/>
          <p:cNvSpPr txBox="1">
            <a:spLocks noChangeArrowheads="1"/>
          </p:cNvSpPr>
          <p:nvPr/>
        </p:nvSpPr>
        <p:spPr bwMode="auto">
          <a:xfrm>
            <a:off x="4614863" y="1646635"/>
            <a:ext cx="544116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>
                <a:latin typeface="Arial" charset="0"/>
                <a:ea typeface="宋体" charset="0"/>
                <a:cs typeface="宋体" charset="0"/>
              </a:rPr>
              <a:t>default</a:t>
            </a:r>
            <a:endParaRPr kumimoji="0" lang="en-US" altLang="zh-CN" sz="1050">
              <a:latin typeface="Times New Roman" charset="0"/>
              <a:ea typeface="宋体" charset="0"/>
              <a:cs typeface="宋体" charset="0"/>
            </a:endParaRPr>
          </a:p>
          <a:p>
            <a:pPr algn="ctr" eaLnBrk="0" hangingPunct="0"/>
            <a:endParaRPr kumimoji="0" lang="en-US" altLang="zh-CN" sz="180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6504" name="Line 10"/>
          <p:cNvSpPr>
            <a:spLocks noChangeShapeType="1"/>
          </p:cNvSpPr>
          <p:nvPr/>
        </p:nvSpPr>
        <p:spPr bwMode="auto">
          <a:xfrm>
            <a:off x="4675587" y="1869281"/>
            <a:ext cx="611981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5" name="Freeform 11"/>
          <p:cNvSpPr>
            <a:spLocks/>
          </p:cNvSpPr>
          <p:nvPr/>
        </p:nvSpPr>
        <p:spPr bwMode="auto">
          <a:xfrm>
            <a:off x="5541170" y="2090739"/>
            <a:ext cx="621506" cy="864394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6" name="Text Box 12"/>
          <p:cNvSpPr txBox="1">
            <a:spLocks noChangeArrowheads="1"/>
          </p:cNvSpPr>
          <p:nvPr/>
        </p:nvSpPr>
        <p:spPr bwMode="auto">
          <a:xfrm>
            <a:off x="5911454" y="1918097"/>
            <a:ext cx="3613547" cy="422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rdt_rcv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rcvpkt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 &amp;&amp;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notcurrupt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rcvpkt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 &amp;&amp;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seq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rcvpkt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in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expectedseqnum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,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expectseqnum+N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 </a:t>
            </a:r>
            <a:endParaRPr kumimoji="0" lang="en-US" altLang="zh-CN" sz="1050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6507" name="Line 13"/>
          <p:cNvSpPr>
            <a:spLocks noChangeShapeType="1"/>
          </p:cNvSpPr>
          <p:nvPr/>
        </p:nvSpPr>
        <p:spPr bwMode="auto">
          <a:xfrm>
            <a:off x="5963841" y="2437211"/>
            <a:ext cx="2381250" cy="119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8" name="Text Box 14"/>
          <p:cNvSpPr txBox="1">
            <a:spLocks noChangeArrowheads="1"/>
          </p:cNvSpPr>
          <p:nvPr/>
        </p:nvSpPr>
        <p:spPr bwMode="auto">
          <a:xfrm>
            <a:off x="5915026" y="2469357"/>
            <a:ext cx="3609975" cy="64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extract(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rcvpkt,data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Store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data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in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cache(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seq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rcvpkt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))</a:t>
            </a:r>
          </a:p>
          <a:p>
            <a:pPr eaLnBrk="0" hangingPunct="0"/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sndpkt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=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make_pkt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seq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rcvpkt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,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ACK,chksum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</a:p>
          <a:p>
            <a:pPr eaLnBrk="0" hangingPunct="0"/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udt_send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sndpkt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If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seq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rcvpkt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==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expectedseqnum</a:t>
            </a:r>
            <a:endParaRPr kumimoji="0" lang="en-US" altLang="zh-CN" sz="1050" dirty="0">
              <a:latin typeface="Arial" charset="0"/>
              <a:ea typeface="宋体" charset="0"/>
              <a:cs typeface="宋体" charset="0"/>
            </a:endParaRP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	update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expectedseqnum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to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next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unreceived</a:t>
            </a:r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seqnum</a:t>
            </a:r>
            <a:endParaRPr kumimoji="0" lang="en-US" altLang="zh-CN" sz="1050" dirty="0">
              <a:latin typeface="Arial" charset="0"/>
              <a:ea typeface="宋体" charset="0"/>
              <a:cs typeface="宋体" charset="0"/>
            </a:endParaRPr>
          </a:p>
          <a:p>
            <a:pPr eaLnBrk="0" hangingPunct="0"/>
            <a:r>
              <a:rPr kumimoji="0" lang="zh-CN" altLang="en-US" sz="1050" dirty="0">
                <a:latin typeface="Arial" charset="0"/>
                <a:ea typeface="宋体" charset="0"/>
                <a:cs typeface="宋体" charset="0"/>
              </a:rPr>
              <a:t>        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deliver_data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(continuous(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cache,expectedseqnum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</a:p>
          <a:p>
            <a:pPr eaLnBrk="0" hangingPunct="0"/>
            <a:endParaRPr kumimoji="0" lang="en-US" altLang="zh-CN" sz="1050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6509" name="Freeform 15"/>
          <p:cNvSpPr>
            <a:spLocks/>
          </p:cNvSpPr>
          <p:nvPr/>
        </p:nvSpPr>
        <p:spPr bwMode="auto">
          <a:xfrm rot="5142103" flipH="1">
            <a:off x="5145883" y="1697832"/>
            <a:ext cx="295275" cy="864394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10" name="Line 16"/>
          <p:cNvSpPr>
            <a:spLocks noChangeShapeType="1"/>
          </p:cNvSpPr>
          <p:nvPr/>
        </p:nvSpPr>
        <p:spPr bwMode="auto">
          <a:xfrm>
            <a:off x="3255169" y="2472929"/>
            <a:ext cx="92868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11" name="Text Box 17"/>
          <p:cNvSpPr txBox="1">
            <a:spLocks noChangeArrowheads="1"/>
          </p:cNvSpPr>
          <p:nvPr/>
        </p:nvSpPr>
        <p:spPr bwMode="auto">
          <a:xfrm>
            <a:off x="3187305" y="2488408"/>
            <a:ext cx="2731294" cy="735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eaLnBrk="0" hangingPunct="0"/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expectedseqnum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=1</a:t>
            </a:r>
          </a:p>
          <a:p>
            <a:pPr eaLnBrk="0" hangingPunct="0"/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sndpkt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=    </a:t>
            </a:r>
          </a:p>
          <a:p>
            <a:pPr eaLnBrk="0" hangingPunct="0"/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  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make_pkt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(</a:t>
            </a:r>
            <a:r>
              <a:rPr kumimoji="0" lang="en-US" altLang="zh-CN" sz="1050" dirty="0" err="1">
                <a:latin typeface="Arial" charset="0"/>
                <a:ea typeface="宋体" charset="0"/>
                <a:cs typeface="宋体" charset="0"/>
              </a:rPr>
              <a:t>expectedseqnum,ACK,chksum</a:t>
            </a:r>
            <a:r>
              <a:rPr kumimoji="0" lang="en-US" altLang="zh-CN" sz="1050" dirty="0">
                <a:latin typeface="Arial" charset="0"/>
                <a:ea typeface="宋体" charset="0"/>
                <a:cs typeface="宋体" charset="0"/>
              </a:rPr>
              <a:t>)</a:t>
            </a:r>
          </a:p>
          <a:p>
            <a:pPr eaLnBrk="0" hangingPunct="0"/>
            <a:endParaRPr kumimoji="0" lang="en-US" altLang="zh-CN" sz="1050" dirty="0">
              <a:latin typeface="Times New Roman" charset="0"/>
              <a:ea typeface="宋体" charset="0"/>
              <a:cs typeface="宋体" charset="0"/>
            </a:endParaRPr>
          </a:p>
          <a:p>
            <a:pPr algn="ctr" eaLnBrk="0" hangingPunct="0"/>
            <a:endParaRPr kumimoji="0" lang="en-US" sz="1800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6512" name="Text Box 18"/>
          <p:cNvSpPr txBox="1">
            <a:spLocks noChangeArrowheads="1"/>
          </p:cNvSpPr>
          <p:nvPr/>
        </p:nvSpPr>
        <p:spPr bwMode="auto">
          <a:xfrm>
            <a:off x="3190899" y="2245520"/>
            <a:ext cx="2904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ahoma" charset="0"/>
                <a:ea typeface="楷体" charset="0"/>
                <a:cs typeface="楷体" charset="0"/>
              </a:defRPr>
            </a:lvl9pPr>
          </a:lstStyle>
          <a:p>
            <a:pPr algn="ctr" eaLnBrk="0" hangingPunct="0"/>
            <a:r>
              <a:rPr kumimoji="0" lang="en-US" altLang="zh-CN" sz="1200">
                <a:latin typeface="Symbol" charset="0"/>
                <a:ea typeface="宋体" charset="0"/>
                <a:cs typeface="宋体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3256469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773239"/>
            <a:ext cx="8229600" cy="935037"/>
          </a:xfrm>
        </p:spPr>
        <p:txBody>
          <a:bodyPr>
            <a:normAutofit/>
          </a:bodyPr>
          <a:lstStyle/>
          <a:p>
            <a:pPr marL="109538" indent="0" algn="ctr">
              <a:buNone/>
              <a:defRPr/>
            </a:pPr>
            <a:r>
              <a:rPr kumimoji="0" lang="en-US" altLang="zh-CN" sz="4400" b="1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eorgia" charset="0"/>
                <a:ea typeface="宋体" charset="0"/>
              </a:rPr>
              <a:t>Thank You</a:t>
            </a:r>
            <a:endParaRPr kumimoji="0" lang="zh-CN" altLang="en-US" sz="4400" b="1">
              <a:solidFill>
                <a:srgbClr val="FF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Georgia" charset="0"/>
              <a:ea typeface="宋体" charset="0"/>
            </a:endParaRPr>
          </a:p>
        </p:txBody>
      </p:sp>
      <p:pic>
        <p:nvPicPr>
          <p:cNvPr id="4505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5" y="2663825"/>
            <a:ext cx="2592388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Diamond">
  <a:themeElements>
    <a:clrScheme name="1_Office 主题​​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​​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_Office 主题​​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Diamond.thmx</Template>
  <TotalTime>6537</TotalTime>
  <Words>2339</Words>
  <Application>Microsoft Macintosh PowerPoint</Application>
  <PresentationFormat>宽屏</PresentationFormat>
  <Paragraphs>403</Paragraphs>
  <Slides>28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5" baseType="lpstr">
      <vt:lpstr>方正姚体</vt:lpstr>
      <vt:lpstr>黑体</vt:lpstr>
      <vt:lpstr>楷体</vt:lpstr>
      <vt:lpstr>宋体</vt:lpstr>
      <vt:lpstr>Heiti SC Light</vt:lpstr>
      <vt:lpstr>Songti SC Regular</vt:lpstr>
      <vt:lpstr>Arial</vt:lpstr>
      <vt:lpstr>Calibri</vt:lpstr>
      <vt:lpstr>Comic Sans MS</vt:lpstr>
      <vt:lpstr>Georgia</vt:lpstr>
      <vt:lpstr>Menlo</vt:lpstr>
      <vt:lpstr>Symbol</vt:lpstr>
      <vt:lpstr>Tahoma</vt:lpstr>
      <vt:lpstr>Times New Roman</vt:lpstr>
      <vt:lpstr>Trebuchet MS</vt:lpstr>
      <vt:lpstr>Wingdings</vt:lpstr>
      <vt:lpstr>Diamond</vt:lpstr>
      <vt:lpstr>Computer Networks – Expeiment – TCP</vt:lpstr>
      <vt:lpstr>TCP实验系统工作原理</vt:lpstr>
      <vt:lpstr>实验内容</vt:lpstr>
      <vt:lpstr>可靠数据传输：信道模型</vt:lpstr>
      <vt:lpstr>系统类库UML图</vt:lpstr>
      <vt:lpstr>计时器的使用</vt:lpstr>
      <vt:lpstr>成绩评定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RDT1.0: 在可靠信道上进行可靠的数据传输</vt:lpstr>
      <vt:lpstr>RDT2.0: 信道上可能出现位错</vt:lpstr>
      <vt:lpstr>RDT2.0: 有限状态机定义</vt:lpstr>
      <vt:lpstr>RDT2.0 有一个致命的缺点!</vt:lpstr>
      <vt:lpstr>RDT2.1:管理出错的ACK/NAK，发送方</vt:lpstr>
      <vt:lpstr>RDT2.1:管理出错的ACK/NAK，接收方</vt:lpstr>
      <vt:lpstr>RDT2.2</vt:lpstr>
      <vt:lpstr>RDT2.2: 无 NAK的协议</vt:lpstr>
      <vt:lpstr>RDT3.0: 通道上可能出错和丢失数据</vt:lpstr>
      <vt:lpstr>RDT3.0 发送方</vt:lpstr>
      <vt:lpstr>RDT3.0: 接收方</vt:lpstr>
      <vt:lpstr>GBN: 发送方扩展的 FSM</vt:lpstr>
      <vt:lpstr>GBN: 接收方的 FSM</vt:lpstr>
      <vt:lpstr>SR: 发送方扩展的 FSM</vt:lpstr>
      <vt:lpstr>SR: 接收方的 FSM</vt:lpstr>
      <vt:lpstr>PowerPoint 演示文稿</vt:lpstr>
    </vt:vector>
  </TitlesOfParts>
  <Company>OUC_CS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TCP协议实验讲解</dc:title>
  <dc:creator>Boson Yang</dc:creator>
  <cp:lastModifiedBy>Alan Hong</cp:lastModifiedBy>
  <cp:revision>105</cp:revision>
  <cp:lastPrinted>2021-12-07T06:44:23Z</cp:lastPrinted>
  <dcterms:created xsi:type="dcterms:W3CDTF">2012-12-13T01:07:51Z</dcterms:created>
  <dcterms:modified xsi:type="dcterms:W3CDTF">2024-12-07T23:58:11Z</dcterms:modified>
</cp:coreProperties>
</file>